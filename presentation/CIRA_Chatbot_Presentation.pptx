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70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589520" cy="6858000"/>
          </a:xfrm>
          <a:prstGeom prst="rect">
            <a:avLst/>
          </a:prstGeom>
          <a:solidFill>
            <a:srgbClr val="090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502920"/>
            <a:ext cx="3506724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CONFERENCE PRESENTATION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229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 i="0">
                <a:solidFill>
                  <a:srgbClr val="FFFFFF"/>
                </a:solidFill>
                <a:latin typeface="Calibri"/>
              </a:rPr>
              <a:t>CIRA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F9CF9"/>
                </a:solidFill>
                <a:latin typeface="Calibri"/>
              </a:rPr>
              <a:t>Intelligent Conversational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A production-ready, personalized chatbot platform powered by Google Gemini,
RAG knowledge retrieval, and deep user profiling — built for scale and real-world 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2244852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GOOGLE GEMINI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6372" y="4663440"/>
            <a:ext cx="1508760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RAG / BM25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13732" y="4663440"/>
            <a:ext cx="1298448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REACT 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4663440"/>
            <a:ext cx="2244852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NODE.JS + EXPRESS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4232" y="4663440"/>
            <a:ext cx="1929384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ELEVENLABS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872216" y="4663440"/>
            <a:ext cx="1508760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GOOGLE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01  /  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188720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We Will Cover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5577840" cy="1298448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475488" cy="1298448"/>
          </a:xfrm>
          <a:prstGeom prst="round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4754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F9CF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4813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Introduction to CIRA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84708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Overview, mission, tech stack, use cases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53312"/>
            <a:ext cx="5577840" cy="1298448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353312"/>
            <a:ext cx="475488" cy="1298448"/>
          </a:xfrm>
          <a:prstGeom prst="round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53312"/>
            <a:ext cx="4754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55F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14813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Core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184708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Chat, RAG, TTS, Admin, Multi-instance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16352"/>
            <a:ext cx="5577840" cy="1298448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816352"/>
            <a:ext cx="475488" cy="1298448"/>
          </a:xfrm>
          <a:prstGeom prst="roundRect">
            <a:avLst/>
          </a:prstGeom>
          <a:solidFill>
            <a:srgbClr val="144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16352"/>
            <a:ext cx="4754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29443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Personalization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31012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Profiles, AI Memory, Google Fit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816352"/>
            <a:ext cx="5577840" cy="1298448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816352"/>
            <a:ext cx="475488" cy="1298448"/>
          </a:xfrm>
          <a:prstGeom prst="round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16352"/>
            <a:ext cx="4754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4D399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9443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Flow Charts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331012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Auth, Chat, RAG, Memory, OAuth flows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79392"/>
            <a:ext cx="5577840" cy="1298448"/>
          </a:xfrm>
          <a:prstGeom prst="roundRect">
            <a:avLst/>
          </a:prstGeom>
          <a:solidFill>
            <a:srgbClr val="2B231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279392"/>
            <a:ext cx="475488" cy="1298448"/>
          </a:xfrm>
          <a:prstGeom prst="roundRect">
            <a:avLst/>
          </a:prstGeom>
          <a:solidFill>
            <a:srgbClr val="4A3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279392"/>
            <a:ext cx="4754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BBF24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407407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System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477316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DB schema, APIs, JWT, WAL, deployment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279392"/>
            <a:ext cx="5577840" cy="1298448"/>
          </a:xfrm>
          <a:prstGeom prst="roundRect">
            <a:avLst/>
          </a:prstGeom>
          <a:solidFill>
            <a:srgbClr val="2B1A1A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4279392"/>
            <a:ext cx="475488" cy="1298448"/>
          </a:xfrm>
          <a:prstGeom prst="roundRect">
            <a:avLst/>
          </a:prstGeom>
          <a:solidFill>
            <a:srgbClr val="4A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279392"/>
            <a:ext cx="4754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87171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4407407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Architecture &amp; Advantages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477316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Design patterns, trade-offs, roadmap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4458"/>
                </a:solidFill>
                <a:latin typeface="Calibri"/>
              </a:rPr>
              <a:t>70 slides  ·  6 sections  ·  Full Q&amp;A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02  /  70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6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244852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Gap in AI Chatbot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577840" cy="2240280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47088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Generic Responses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2140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Most chatbots give one-size-fits-all answers with no knowledge of who the user is or their personal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577840" cy="2240280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47088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Siloed 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12140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AI models cannot access private organizational documents without fine-tuning, which is costly and slow to deploy.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5577840" cy="2240280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8221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224527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Hallucination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49884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Large language models frequently generate plausible-sounding but incorrect facts when operating outside their training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49039"/>
            <a:ext cx="5577840" cy="2240280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8221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224527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High Infrastructure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449884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Vector databases, embedding APIs, and managed AI services drive up operational costs for small teams.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989320"/>
            <a:ext cx="11247120" cy="566928"/>
          </a:xfrm>
          <a:prstGeom prst="roundRect">
            <a:avLst/>
          </a:prstGeom>
          <a:solidFill>
            <a:srgbClr val="0F1728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8F0"/>
                </a:solidFill>
                <a:latin typeface="Calibri"/>
              </a:rPr>
              <a:t>CIRA solves all four with a single, integrated, open-source architecture.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03  / 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is CIRA?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Conversational Intelligent Responsive Assistant — a full-stack AI chatbot for personalized, knowledge-grounded conversations.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57784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50292" cy="7315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37943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🤖  AI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12264"/>
            <a:ext cx="5376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Google Gemini (multi-version) with configurable temperature, system prompts, and web search. Model switching without code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83080"/>
            <a:ext cx="557784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0292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37943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📚  Knowledge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12264"/>
            <a:ext cx="5376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BM25 Retrieval-Augmented Generation on private documents (PDF, TXT, Markdown). Answers stay accurate and verifiable.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37560"/>
            <a:ext cx="557784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37560"/>
            <a:ext cx="5029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92424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👤  Personalization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66744"/>
            <a:ext cx="5376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profiles, auto-learned AI memories, and Google Fit fitness data injected into every conversation context.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337560"/>
            <a:ext cx="557784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337560"/>
            <a:ext cx="5029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392424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🛠  Admin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666744"/>
            <a:ext cx="5376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bot configuration, user management, KB uploads, conversation audit — no code redeploy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92040"/>
            <a:ext cx="557784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892040"/>
            <a:ext cx="50292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46903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🔊  Rich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21224"/>
            <a:ext cx="5376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ElevenLabs TTS, speech-to-text, Markdown rendering, dark/light themes, fully responsive mobile-first design.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892040"/>
            <a:ext cx="557784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892040"/>
            <a:ext cx="50292" cy="7315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946903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🏗  Multi-Instance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221224"/>
            <a:ext cx="5376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Run multiple isolated chatbot instances from one codebase — separate databases, ports, and configs per instance.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04  / 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139696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MISSION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Our Mission and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47120" cy="2084831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2D3EE"/>
                </a:solidFill>
                <a:latin typeface="Calibri"/>
              </a:rPr>
              <a:t>🎯 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2E8F0"/>
                </a:solidFill>
                <a:latin typeface="Calibri"/>
              </a:rPr>
              <a:t>To make intelligent, personalized AI assistants accessible to any organization — without requiring vector infrastructure, GPU clusters, or ML expertise.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600"/>
            <a:ext cx="11247120" cy="2084831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855F7"/>
                </a:solidFill>
                <a:latin typeface="Calibri"/>
              </a:rPr>
              <a:t>🔭 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2E8F0"/>
                </a:solidFill>
                <a:latin typeface="Calibri"/>
              </a:rPr>
              <a:t>A world where every business can deploy a context-aware AI assistant that truly knows its users, grounded in domain knowledge, deployable in minutes on a $7/month 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05  / 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929384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CIRA 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657600" cy="1719072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33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4F9CF9"/>
                </a:solidFill>
                <a:latin typeface="Calibri"/>
              </a:rPr>
              <a:t>25+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REST API Endpoints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353312"/>
            <a:ext cx="3657600" cy="1719072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6036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7" y="142646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A855F7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Gemini Model Options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1353312"/>
            <a:ext cx="3657600" cy="1719072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1D75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42646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2D3EE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ElevenLabs Voice Choices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73552"/>
            <a:ext cx="3657600" cy="1719072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4670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22191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Vector DBs Required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7" y="3273552"/>
            <a:ext cx="3657600" cy="1719072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896B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7" y="334670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BBF24"/>
                </a:solidFill>
                <a:latin typeface="Calibri"/>
              </a:rPr>
              <a:t>7-day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7" y="3822191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JWT Token Lifetime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11896" y="3273552"/>
            <a:ext cx="3657600" cy="1719072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88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334670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87171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822191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Auto-Extracted Memories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93792"/>
            <a:ext cx="3657600" cy="1719072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33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26694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4F9CF9"/>
                </a:solidFill>
                <a:latin typeface="Calibri"/>
              </a:rPr>
              <a:t>400w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742431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RAG Chunk Size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7407" y="5193792"/>
            <a:ext cx="3657600" cy="1719072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6036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07407" y="526694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A855F7"/>
                </a:solidFill>
                <a:latin typeface="Calibri"/>
              </a:rPr>
              <a:t>20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7" y="5742431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Max Doc Upload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1896" y="5193792"/>
            <a:ext cx="3657600" cy="1719072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1D75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6" y="526694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2D3EE"/>
                </a:solidFill>
                <a:latin typeface="Calibri"/>
              </a:rPr>
              <a:t>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6" y="5742431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Multi-Instance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06  / 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139696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Full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F9CF9"/>
                </a:solidFill>
                <a:latin typeface="Calibri"/>
              </a:rPr>
              <a:t>BACKEND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27632"/>
          <a:ext cx="53035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Node.js 20.x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Framework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Express.js 4.19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Model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Google Gemini (multi-version)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SQLite 3 + better-sqlite3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JWT + bcryptjs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TTS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ElevenLabs API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Fitness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Google Fit API (OAuth2)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3533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855F7"/>
                </a:solidFill>
                <a:latin typeface="Calibri"/>
              </a:rPr>
              <a:t>FRONTEND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627632"/>
          <a:ext cx="53035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Framework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 18.3.1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Routing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 Router v7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Styling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CSS Custom Properties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react-markdown 9.0.1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Context API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Create React App 5.0.1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Deploy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Render.com / Netlify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07  / 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Who Uses CIRA?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Healthcare Assistants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Personalized wellness guidance using user medical history, medications, allergies, and live Google Fit fitness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Enterprise Support Bots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Ground AI responses in company documents (PDFs, policies) uploaded to the knowledge base — accurate, no hallucinations.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Education Tutors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Upload course materials; the chatbot answers questions grounded in those specific documents for accurate tutoring.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3075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🏋️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Fitness Coaches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Combine user profile (goals, weight, age) with real-time step and heart rate data for truly personalized coaching.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7" y="373075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Financial Advisors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RAG on financial documents + user profile data for compliant, personalized financial Q&amp;A.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11896" y="373075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21624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Internal Knowledge 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Replace generic chatbots with a bot that knows your internal docs and processes with exact source references.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08  / 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Deployment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50292" cy="7315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0817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☁️  Render.com (Primary)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82495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Node.js runtime · 1 GB persistent disk · Auto-deploy from GitHub · Health check endpoint · Environment variable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7627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76272"/>
            <a:ext cx="50292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3113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🌐  Netlify (Frontend Mirror)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5456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Static React build · Global CDN · Instant cache invalidation · netlify.toml SPA redirect rules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99232"/>
            <a:ext cx="5029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5409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💻  Local / Self-Hosted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28415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`node start-instances.js` launches all instances simultaneously · Isolated data directories per instance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353312"/>
            <a:ext cx="5577840" cy="315468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444752"/>
            <a:ext cx="5340096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Required Environment Variables
GEMINI_API_KEY=sk-...
ELEVENLABS_API_KEY=sk_...
JWT_SECRET=long-random-32-char-string
PORT=5000
NODE_ENV=production
INSTANCE_NAME="CIRA"
GOOGLE_CLIENT_ID=...
GOOGLE_CLIENT_SECRET=...
GOOGLE_REDIRECT_URI=https://...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09  / 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457200"/>
            <a:ext cx="48463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 i="0">
                <a:solidFill>
                  <a:srgbClr val="101C2C"/>
                </a:solidFill>
                <a:latin typeface="Calibri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46320" y="1417320"/>
            <a:ext cx="1508760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SECTION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Multi-conversation chat  ·  RAG knowledge base  ·  Speech I/O  ·  Admin dashboard  ·  Multi-instance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10  / 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244852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FEATURES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Six Pillars of CIRA Functionality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Conversation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Multi-session, auto-titling, persistent history, 10-message rolling context window.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RAG 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BM25-powered keyword retrieval from uploaded PDF, TXT, Markdown. Zero embedding API calls.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Speech 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Browser-native speech-to-text input + ElevenLabs high-fidelity TTS with 11 voice choices.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3075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Admin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bot settings, user management, KB uploads, conversation audit — full control.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7" y="373075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Personalization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profiles + AI memory extraction + Google Fit for truly contextual responses.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11896" y="373075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21624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🏗️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Multi-Instance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Multiple isolated chatbot instances from one codebase with separate configs and data.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11  / 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193292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Multi-Conversation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Unlimited independent threads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Users can create and switch between as many conversations as needed.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Auto-generated titles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First message triggers a 4–6 word Gemini-generated title for each conversation.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Persistent storage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All messages stored in SQLite with timestamps — survives server restarts.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Sidebar navigation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Collapsible conversation list for quick switching on desktop and mobile.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10-message context window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Last 10 messages passed to Gemini for multi-turn coherence.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Full admin audit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Admin can view any user's complete conversation history.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Rename / delete support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Users can rename or delete any conversation at any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53312"/>
            <a:ext cx="5486400" cy="50292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91655" y="1444752"/>
            <a:ext cx="524865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conversations (
  id         TEXT PRIMARY KEY,
  user_id    TEXT NOT NULL
             REFERENCES users(id)
             ON DELETE CASCADE,
  title      TEXT DEFAULT "New Chat",
  created_at INTEGER NOT NULL,
  updated_at INTEGER NOT NULL
);
CREATE TABLE messages (
  id              TEXT PRIMARY KEY,
  conversation_id TEXT NOT NULL,
  role    TEXT,   -- user | assistant
  text    TEXT NOT NULL,
  timestamp INTEGER NOT NULL,
  refs    TEXT   -- JSON KB references
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12  / 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AI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 Response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50292" cy="7315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0817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🤖  Gemini Model Flexibility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82495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Supports gemini-3-flash-preview, Gemini 3.1 Pro/Flash Lite, 2.5 Pro/Flash, 2.0 Flash, Gemma 4. Admin switches model without redeploy.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7627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76272"/>
            <a:ext cx="50292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3113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🌡️  Temperature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5456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Three presets: Precise (0.2), Balanced (0.7), Creative (1.2). Controls creativity vs factual consistency of responses.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99232"/>
            <a:ext cx="50292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5409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📝  System Prompt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28415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Custom behavior instructions + user profile + KB results + memory facts assembled into one dynamic systemInstruction per request.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22191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22191"/>
            <a:ext cx="5029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77055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🌐  Web Search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51376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Gemini's built-in Google Search tool provides live web results. Configurable weight 0–100%. Disabled automatically for Gemma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3533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Knowledge Source Weights  (Admin Configurable)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63640" y="1719072"/>
          <a:ext cx="5486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EXAMPLE WEIGHT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KB Documents (RAG)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Strict domain knowledge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Model's Own Knowledge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General questions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Live Web Search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Current events, news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263640" y="3291840"/>
            <a:ext cx="5486400" cy="658368"/>
          </a:xfrm>
          <a:prstGeom prst="roundRect">
            <a:avLst/>
          </a:prstGeom>
          <a:solidFill>
            <a:srgbClr val="2B2310"/>
          </a:solidFill>
          <a:ln w="9525">
            <a:solidFill>
              <a:srgbClr val="896B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83280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BF24"/>
                </a:solidFill>
                <a:latin typeface="Calibri"/>
              </a:rPr>
              <a:t>⚠  Web Search Note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75888"/>
            <a:ext cx="5230368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Web search disabled for Gemma models. JSON-mode fallback to Gemini 1.5 Flash on parse failures.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041648"/>
            <a:ext cx="5486400" cy="658368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133087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Key Benefit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25696"/>
            <a:ext cx="5230368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Admin changes model, temperature, and weights via UI — takes effect on the very next chat request.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13  / 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RAG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Knowledge Base &amp; RAG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Supported formats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PDF (text extraction via pdf-parse), TXT, and Markdown files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20 MB max per upload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Admin drag-and-drop interface on KnowledgePage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Smart chunking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400-word segments with 60-word overlap for context continuity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BM25 tokenization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Stored as JSON arrays — zero embedding API calls required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Top-K retrieval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Default K=5 highest-scoring chunks per query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Source citations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Document names shown alongside AI responses for traceability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Text snippets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Also accepts plain-text snippets added directly via admin UI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34D399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Configurable weight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KB influence 0–100% set in admin settings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RAG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19072"/>
            <a:ext cx="54864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175564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Upload Document (PDF/TXT/MD)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1945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468879"/>
            <a:ext cx="548640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250545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Extract Text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94436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18687"/>
            <a:ext cx="54864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3255263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Chunk: 400 words, 60-word overlap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694176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968496"/>
            <a:ext cx="548640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00507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BM25 Tokenize → Store JSON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4443983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718304"/>
            <a:ext cx="548640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475488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Query → BM25 Score → Top-K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519379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468112"/>
            <a:ext cx="54864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59" y="550468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Inject chunks into Gemini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14  / 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929384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BM25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BM25 — Why No Vector Embeddings?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5394960" cy="109728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BM25 Score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score(D,Q) = Σ IDF(qi) × [ tf(qi,D) × (k1+1) ] / [ tf(qi,D) + k1 × (1-b+b×|D|/avgdl)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Parameters: K1=1.5, B=0.75  ·  Stopwords: 47 common English words filtered  ·  Top-K: 5 chunks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743200"/>
          <a:ext cx="53949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BM25 (CIRA)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VECTOR EMBEDDINGS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API calls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Per chunk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~12 MB SQLite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GBs (FAISS/Pinecone)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5 ms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50–200 ms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Monthly cost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$70–250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Explainability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 (keywords)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Low (opaque)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9841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Semantic search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Keyword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263640" y="1353312"/>
            <a:ext cx="5486400" cy="416052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5" y="1444752"/>
            <a:ext cx="5248656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embed.js — BM25 constants
const K1 = 1.5;
const B  = 0.75;
const STOPWORDS = new Set([
  'the','is','at','which','on',
  'a','an','and','or','but',
  // ... 37 more
]);
// Tokenize → lowercase → filter stops
// → store as JSON array in kb_chunks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5577840"/>
            <a:ext cx="5486400" cy="566928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5669279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Practical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61888"/>
            <a:ext cx="5230368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For domain-specific documents, BM25 matches semantic search accuracy at zero embedding cost.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15  / 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SPEECH I/O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Speech-to-Text &amp; Text-to-Speech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9CF9"/>
                </a:solidFill>
                <a:latin typeface="Calibri"/>
              </a:rPr>
              <a:t>🎤  Speech-to-Text (STT)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19072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▶  Uses browser-native Web Speech API — zero backend cost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▶  Continuous recognition with live interim results displayed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▶  Graceful fallback when browser does not support it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▶  Works on Chrome, Edge, Safari (WebKit)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55F7"/>
                </a:solidFill>
                <a:latin typeface="Calibri"/>
              </a:rPr>
              <a:t>🔊  Text-to-Speech (TTS) — ElevenLabs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5394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11+ voice personalities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Rachel, Adam, and more studio-quality options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4 model tiers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Turbo v2.5 (default), Turbo v2, Multilingual v2, Monolingual v1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Stability &amp; similarity boost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Fine-tune voice characteristics per deployment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Markdown stripped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Clean audio — no asterisks or code fences read aloud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MP3 output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44.1 kHz, 128 kbps audio returned by /api/tts 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53312"/>
            <a:ext cx="5486400" cy="50292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5" y="1444752"/>
            <a:ext cx="524865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POST /api/tts — server.js
app.post('/api/tts', requireAuth, async (req,res) =&gt; {
  const { text, voiceId, modelId,
          stability, similarityBoost } = req.body;
  // Strip markdown for clean audio
  const clean = stripMarkdown(text);
  const audio = await fetchElevenLabs({
    text: clean, voice_id: voiceId,
    model_id: modelId,
    voice_settings: { stability,
      similarity_boost: similarityBoost }
  });
  res.set('Content-Type','audio/mpeg');
  res.send(audio);
});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16  / 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188720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Admin Dashboard &amp; Control Panel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657600" cy="2240280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Dashboard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Total users · KB documents · Avg login count · Most recent activity · Active session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53312"/>
            <a:ext cx="3657600" cy="2240280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User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View all users · Add admin notes · See login history · Grant/revoke admin role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53312"/>
            <a:ext cx="365760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🗂️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182880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Chat History 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10312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Full conversation visibility for any user · Compliance and moderation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30752"/>
            <a:ext cx="3657600" cy="2240280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Bot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model selection · System prompt · Temperature · RAG weights · TTS defaults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7" y="3730752"/>
            <a:ext cx="3657600" cy="224028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Knowledge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Drag-and-drop upload · Text snippets · View all docs · Delete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11896" y="3730752"/>
            <a:ext cx="3657600" cy="2240280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21624" y="38039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2062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Access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480560"/>
            <a:ext cx="34564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All admin routes protected with requireAdmin middleware. JWT role claim verified on every request.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17  / 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929384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MULTI-INSTANCE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Multi-Instance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 single CIRA codebase powers multiple independent chatbot instances simultaneously, each with its own isolated environment: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84831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Isolated SQLite database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Each instance has its own users, conversations, and KB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Unique TCP port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5000, 5001, 5002 … configurable in instances.json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Separate data directory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Independent persistent disk location per instance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Independent bot name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Different INSTANCE_NAME and configuration per instance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Single launcher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node start-instances.js spawns all processes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5394960" cy="548640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1D75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Use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07608"/>
            <a:ext cx="5138928" cy="73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CIRA A for public users, CIRA B for internal staff — same code, different configs.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53312"/>
            <a:ext cx="5486400" cy="50292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5" y="1444752"/>
            <a:ext cx="524865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instances.json
[
  {
    "name":    "CIRA A",
    "port":    5000,
    "dataDir": "data/chatbot-a"
  },
  {
    "name":    "CIRA B",
    "port":    5001,
    "dataDir": "data/chatbot-b"
  }
]
// start-instances.js
for (const inst of instances) {
  spawn("node", ["server.js"], {
    env: { ...process.env,
      PORT: inst.port,
      INSTANCE_NAME: inst.name,
      DATA_DIR: inst.dataDir }
  });
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18  / 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613916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UI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Rich UI &amp; Experience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5577840" cy="233172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2880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Markdown Rendering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537667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Full GitHub-Flavored Markdown via react-markdown. Code blocks with syntax highlighting, tables, lists — all rendered safely without XSS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53312"/>
            <a:ext cx="5577840" cy="233172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264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2880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Dark / Light Themes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537667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CSS custom properties (design tokens) enable instant theme switching. Dark mode default. Admin sets the default theme for all users.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22191"/>
            <a:ext cx="5577840" cy="233172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89534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297679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Fully Responsive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572000"/>
            <a:ext cx="537667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Mobile-first CSS Grid/Flexbox. Sidebar collapses on small screens. Touch-friendly controls. Works on phones, tablets, and desktops.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22191"/>
            <a:ext cx="5577840" cy="233172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89534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297679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Source Citations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4572000"/>
            <a:ext cx="537667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KB document names appear as clickable references alongside AI responses for full traceability and auditability.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19  / 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457200"/>
            <a:ext cx="48463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 i="0">
                <a:solidFill>
                  <a:srgbClr val="101C2C"/>
                </a:solidFill>
                <a:latin typeface="Calibri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46320" y="1417320"/>
            <a:ext cx="150876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SECTION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The Personalization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User profiles  ·  AI memory extraction  ·  Google Fit integration  ·  Dynamic context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20  / 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Personalization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57600" cy="320040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904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928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Context-Aware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67128"/>
            <a:ext cx="345643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AI knows who you are — age, health conditions, goals, and history — before you type a word.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417320"/>
            <a:ext cx="3657600" cy="3200400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4904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8928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Memory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67128"/>
            <a:ext cx="345643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Facts learned in one conversation persist across all future sessions — the bot gets smarter over time automatically.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417320"/>
            <a:ext cx="3657600" cy="3200400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4904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18928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Live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167128"/>
            <a:ext cx="345643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Real-time fitness data from Google Fit — steps, heart rate, weight — refreshed on demand for truly current advice.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54880"/>
            <a:ext cx="11247120" cy="841248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1D5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2E8F0"/>
                </a:solidFill>
                <a:latin typeface="Calibri"/>
              </a:rPr>
              <a:t>All personalization data is assembled into a single dynamic systemInstruction sent with every Gemini API call — seamlessly and automatically.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21  / 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USER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User Profile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53312"/>
          <a:ext cx="57607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DATA TYPE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EXAMPLE VALUE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Gender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"Female"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Height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Number (cm)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Number (kg)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65.0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Medical Conditions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"Type 2 diabetes"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Medications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"Metformin 500 mg"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Allergies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"Peanuts, sulfa drugs"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Health Goals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"Lose 5 kg by June"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Custom Notes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"Prefers metric units"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35331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Profile Impact on Responses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19072"/>
            <a:ext cx="5760720" cy="4114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810512"/>
            <a:ext cx="552297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Profile injected into systemInstruction
function buildSystemPrompt(settings, user) {
  let prompt = settings.systemPrompt;
  if (user.profile?.age) {
    prompt += `\nUser Profile:
  Age:        ${user.profile.age}
  Gender:     ${user.profile.gender}
  Conditions: ${user.profile.conditions}
  Medications:${user.profile.medications}
  Allergies:  ${user.profile.allergies}
  Goals:      ${user.profile.goals}`;
  }
  return prompt;
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22  / 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AI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 Memory Extraction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CIRA automatically learns facts about users by analyzing recent conversation history using Gemini: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502920" cy="502920"/>
          </a:xfrm>
          <a:prstGeom prst="roundRect">
            <a:avLst/>
          </a:prstGeom>
          <a:solidFill>
            <a:srgbClr val="362149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385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56816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Trigger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4526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User triggers extraction. System fetches last 150 messages across all conversations.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08960"/>
            <a:ext cx="502920" cy="502920"/>
          </a:xfrm>
          <a:prstGeom prst="roundRect">
            <a:avLst/>
          </a:prstGeom>
          <a:solidFill>
            <a:srgbClr val="362149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2724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Gemini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19856"/>
            <a:ext cx="4526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Gemini analyzes messages with a structured JSON prompt: extract exactly 12 new facts not already stored.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79392"/>
            <a:ext cx="502920" cy="502920"/>
          </a:xfrm>
          <a:prstGeom prst="roundRect">
            <a:avLst/>
          </a:prstGeom>
          <a:solidFill>
            <a:srgbClr val="362149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2793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97680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Deduplication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90288"/>
            <a:ext cx="4526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40-character prefix matching filters out already-known facts. Markdown JSON blocks stripped for robust parsing.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49824"/>
            <a:ext cx="502920" cy="502920"/>
          </a:xfrm>
          <a:prstGeom prst="roundRect">
            <a:avLst/>
          </a:prstGeom>
          <a:solidFill>
            <a:srgbClr val="362149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44982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68112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Storage &amp;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760720"/>
            <a:ext cx="4526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New facts saved to users.memories JSON column. Appended to systemInstruction on next chat request.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353312"/>
            <a:ext cx="5486400" cy="416052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1444752"/>
            <a:ext cx="5248656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Extracted memory structure
{
  "id":        "mem_abc123",
  "text":      "User prefers morning workouts",
  "source":    "auto",
  "createdAt": 1716890400000
}
// Injected in system prompt
"What I know about you:
 - User prefers morning workouts
 - Has lactose intolerance
 - Training for a 5K run in July
 - Takes vitamin D supplements
 - Lives in a cold climate"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5577840"/>
            <a:ext cx="5486400" cy="59436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6036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69279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Memory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961888"/>
            <a:ext cx="523036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View · manually delete · or add custom memories via Profile Page. Re-run extraction at any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23  / 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GOOGLE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Google Fit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5029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08176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🔐  OAuth2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82495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clicks "Connect Google Fit" → Google consent screen → tokens stored securely server-side per user.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60320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60320"/>
            <a:ext cx="50292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15184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📊  Data Retrieved (7 Days)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89503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Daily step counts · Average heart rate (BPM) · Weight measurements — all aggregated over a rolling 7-day window.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67328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67328"/>
            <a:ext cx="50292" cy="7315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22191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🧠  Context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Fitness snapshot appended to Gemini systemInstruction: "7,432 steps/day, 72 BPM avg heart rate, 68.5 kg".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974336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974336"/>
            <a:ext cx="5029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29199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🔄  Refresh on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manually refreshes fitness data at any time. Cached in user profile with last-updated timestamp.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53312"/>
            <a:ext cx="5486400" cy="50292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5" y="1444752"/>
            <a:ext cx="524865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Read-only OAuth2 scopes
const SCOPES = [
  'https://www.googleapis.com/auth/
    fitness.activity.read',
  'https://www.googleapis.com/auth/
    fitness.body.read',
  'https://www.googleapis.com/auth/
    fitness.heart_rate.read'
];
// Fitness context in system prompt
"Recent Fitness Data (last 7 days):
 • Avg daily steps: 7,432
 • Avg heart rate:  72 BPM
 • Latest weight:   68.5 kg
Use this to give relevant advice."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24  / 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139696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CONTEXT 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Dynamic System Prompt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Every Gemini API call assembles a rich systemInstruction from 6 data sources in real-time (&lt; 20 ms total):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47088"/>
            <a:ext cx="3657600" cy="201168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⚙️ 1. Admin System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67712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base behavior instructions: bot persona, tone, topic scope.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847088"/>
            <a:ext cx="3657600" cy="201168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385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👤 2. User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67712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Age, gender, health conditions, medications, allergies, goals.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11896" y="1847088"/>
            <a:ext cx="3657600" cy="201168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9055" y="19385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💾 3. AI Memories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9055" y="2267712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Previously extracted facts about the user as bullet points.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95928"/>
            <a:ext cx="3657600" cy="2011680"/>
          </a:xfrm>
          <a:prstGeom prst="roundRect">
            <a:avLst/>
          </a:prstGeom>
          <a:solidFill>
            <a:srgbClr val="2B231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8736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BF24"/>
                </a:solidFill>
                <a:latin typeface="Calibri"/>
              </a:rPr>
              <a:t>🏃 4. Fitness Snapshot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16552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7-day Google Fit data: steps, heart rate, weight (if connected).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7" y="3995928"/>
            <a:ext cx="3657600" cy="2011680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08736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📚 5. KB Chunks (RAG)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416552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Top-K BM25-retrieved document chunks grounding factual responses.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1896" y="3995928"/>
            <a:ext cx="3657600" cy="2011680"/>
          </a:xfrm>
          <a:prstGeom prst="roundRect">
            <a:avLst/>
          </a:prstGeom>
          <a:solidFill>
            <a:srgbClr val="2B1A1A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5" y="408736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7171"/>
                </a:solidFill>
                <a:latin typeface="Calibri"/>
              </a:rPr>
              <a:t>🕐 6. Chat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5" y="4416552"/>
            <a:ext cx="33832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Last 10 messages as conversation turns for multi-turn coherence.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25  / 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18872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Personalization in Action — Before vs.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94960" cy="4206240"/>
          </a:xfrm>
          <a:prstGeom prst="roundRect">
            <a:avLst/>
          </a:prstGeom>
          <a:solidFill>
            <a:srgbClr val="271818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7171"/>
                </a:solidFill>
                <a:latin typeface="Calibri"/>
              </a:rPr>
              <a:t>❌  Generic Chatbot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Q: What should I eat before a workout?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"Before a workout, it is generally recommended to eat a balanced meal containing carbohydrates, protein, and healthy fats 2–3 hours before exercising. Examples include oatmeal with fruit, a chicken sandwich, or a banana with peanut butter."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486400" cy="420624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CIRA Personalized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8F0"/>
                </a:solidFill>
                <a:latin typeface="Calibri"/>
              </a:rPr>
              <a:t>Q: What should I eat before a workout?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76272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"Given your Type 2 diabetes and Metformin prescription, avoid simple carbs that spike blood sugar. Greek yogurt with berries works well. Based on your 7,432 daily steps and goal to lose 5 kg, keep pre-workout calories under 250. Since you prefer morning workouts, eat 30–45 min before you start."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715000"/>
            <a:ext cx="11247120" cy="566928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8F0"/>
                </a:solidFill>
                <a:latin typeface="Calibri"/>
              </a:rPr>
              <a:t>Difference: profile + AI memories + fitness snapshot = genuinely useful, personalized advice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26  / 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457200"/>
            <a:ext cx="48463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 i="0">
                <a:solidFill>
                  <a:srgbClr val="101C2C"/>
                </a:solidFill>
                <a:latin typeface="Calibri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46320" y="1417320"/>
            <a:ext cx="1508760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SECTION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Flow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Authentication  ·  Chat processing  ·  RAG pipeline  ·  Memory extraction  ·  OAuth  ·  Error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27  / 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AUTH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User Registration &amp; Login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Registration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39496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28216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User enters email + password +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41448"/>
            <a:ext cx="539496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7802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Validate: email unique, password ≥6 chars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916936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91256"/>
            <a:ext cx="539496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2783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bcryptjs hash password (10 salt rounds)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666744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41064"/>
            <a:ext cx="539496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7764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INSERT user row with UUID → SQLite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41655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690872"/>
            <a:ext cx="539496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2744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Sign JWT (7-day expiry) → Return token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51663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40679"/>
            <a:ext cx="539496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77255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Store token in localStorage → Route to /chat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Every Protected API Request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691640"/>
            <a:ext cx="54864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72821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Client sends Bearer token in Authorization header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216712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514600"/>
            <a:ext cx="548640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55117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requireAuth: jwt.verify(token, JWT_SECRET)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299008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337560"/>
            <a:ext cx="548640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3741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Admin routes: also check role === "admin"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297680"/>
            <a:ext cx="2606040" cy="475488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35254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✅ Valid → continue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297680"/>
            <a:ext cx="2743200" cy="475488"/>
          </a:xfrm>
          <a:prstGeom prst="roundRect">
            <a:avLst/>
          </a:prstGeom>
          <a:solidFill>
            <a:srgbClr val="2B1A1A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4352544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❌ Invalid → 401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28  / 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CHAT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Chat Message Processing Flow — 12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389888"/>
            <a:ext cx="27432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264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User sends POST /api/chat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14447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389888"/>
            <a:ext cx="274320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4264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Authenticate JWT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4447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389888"/>
            <a:ext cx="274320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264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Fetch user profile + memories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14447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44584" y="1389888"/>
            <a:ext cx="27432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0304" y="14264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Fetch fitness snapshot (if linked)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218688"/>
            <a:ext cx="274320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552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BM25 search KB → Top-K chunks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2112" y="32735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55848" y="3218688"/>
            <a:ext cx="27432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01568" y="32552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Load last 10 messages (history)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2735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3218688"/>
            <a:ext cx="274320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32552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Load admin settings (model, temp)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32735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4584" y="3218688"/>
            <a:ext cx="274320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0304" y="32552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Assemble systemInstruction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047488"/>
            <a:ext cx="27432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0840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Call Gemini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82112" y="51023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55848" y="5047488"/>
            <a:ext cx="274320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01568" y="50840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Receive AI response 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1023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5047488"/>
            <a:ext cx="27432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50840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Save both messages to SQLite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510235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44584" y="5047488"/>
            <a:ext cx="27432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90304" y="508406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Return response + KB refs to client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669280"/>
            <a:ext cx="11247120" cy="530352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26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Steps 2–8 complete in &lt; 20 ms (SQLite reads). The Gemini API call (step 9) is the only external I/O with network latency.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29  / 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RAG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RAG Pipeline — Detailed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Ingestion Phase (Document Upload)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539496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Admin uploads PDF/TXT/MD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1945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68879"/>
            <a:ext cx="539496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05456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Multer validates type &amp; size ≤ 20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4436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18687"/>
            <a:ext cx="539496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55263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Text extraction (pdf-parse / buffer)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694176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68496"/>
            <a:ext cx="539496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0507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Chunker: 400w segments, 60w overlap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443983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18304"/>
            <a:ext cx="539496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BM25 tokenize each chunk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19379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68112"/>
            <a:ext cx="539496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0468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Store JSON tokens in kb_chunks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Retrieval Phase (Chat Query)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719072"/>
            <a:ext cx="548640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75564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Tokenize user query (same BM25)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21945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468879"/>
            <a:ext cx="54864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50545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Score all KB chunks with BM25 formula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294436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218687"/>
            <a:ext cx="548640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255263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Sort by relevance score descending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694176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968496"/>
            <a:ext cx="54864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59" y="400507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Return Top-5 chunks + source doc names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4443983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718304"/>
            <a:ext cx="548640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59" y="475488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Inject into Gemini systemInstruction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519379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5468112"/>
            <a:ext cx="548640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59" y="550468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AI response cites source documents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30  / 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613916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MEMORY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 Memory Extraction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3657600" cy="65836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53896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User triggers POST /api/user/memories/extract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6512" y="16002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657600" cy="65836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453896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Authenticate JWT, verify user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8432" y="16002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19" y="1417320"/>
            <a:ext cx="3657600" cy="65836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53896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Fetch last 150 messages from all conversations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807208"/>
            <a:ext cx="3657600" cy="65836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43784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Build extraction prompt: "Extract 12 new user facts"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2" y="299008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807208"/>
            <a:ext cx="3657600" cy="65836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843784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Call Gemini API in JSON mode (structured output)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299008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19" y="2807208"/>
            <a:ext cx="3657600" cy="65836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843784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Parse JSON (strip markdown fences if present)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197096"/>
            <a:ext cx="3657600" cy="65836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233672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Dedup: 40-char prefix match vs. existing memories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6512" y="43799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197096"/>
            <a:ext cx="3657600" cy="65836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233672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Append new facts to users.memories JSON column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2" y="43799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19" y="4197096"/>
            <a:ext cx="3657600" cy="65836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233672"/>
            <a:ext cx="3566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Return updated memory list to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47120" cy="566928"/>
          </a:xfrm>
          <a:prstGeom prst="roundRect">
            <a:avLst/>
          </a:prstGeom>
          <a:solidFill>
            <a:srgbClr val="2B2310"/>
          </a:solidFill>
          <a:ln w="9525">
            <a:solidFill>
              <a:srgbClr val="896B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715000"/>
            <a:ext cx="10991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BF24"/>
                </a:solidFill>
                <a:latin typeface="Calibri"/>
              </a:rPr>
              <a:t>Fallback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007608"/>
            <a:ext cx="10991088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If Gemini returns JSON wrapped in markdown code fences, they are stripped before JSON.parse(). On parse failure, falls back to Gemini 1.5 Flash in forced JSON mode for guaranteed structured output.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31  / 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OAUTH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Google Fit OAuth2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89888"/>
            <a:ext cx="5577840" cy="594360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User: GET /api/fitness/auth-url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08192" y="15270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89888"/>
            <a:ext cx="5577840" cy="594360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264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Server builds OAuth2 URL + state param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04288"/>
            <a:ext cx="5577840" cy="59436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408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User redirected to Google consent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04288"/>
            <a:ext cx="5577840" cy="594360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408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User grants read-only permission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18688"/>
            <a:ext cx="5577840" cy="594360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Google redirects to /api/fitness/callback?code=...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3558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218688"/>
            <a:ext cx="5577840" cy="59436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2552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Exchange code → access_token + refresh_token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33087"/>
            <a:ext cx="5577840" cy="59436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169663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Tokens stored in user.profile (SQLite)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42702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133087"/>
            <a:ext cx="5577840" cy="594360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69663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POST /api/fitness/refresh → fetch 7-day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47488"/>
            <a:ext cx="5577840" cy="594360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0840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Steps + HR + Weight cached in user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08192" y="51846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5047488"/>
            <a:ext cx="5577840" cy="59436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084064"/>
            <a:ext cx="5486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Fitness snapshot injected into systemInstruction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53328"/>
            <a:ext cx="11247120" cy="59436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144768"/>
            <a:ext cx="10991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Security Note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09910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Only read-only scopes requested. OAuth tokens stored server-side only. Revoke anytime via DELETE /api/fitness/disconnect.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32  / 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034540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DOCUMENT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Document Upload &amp; Processing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89888"/>
            <a:ext cx="5577840" cy="438912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Admin: POST /api/documents (multipart)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5577840" cy="438912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48256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Multer: validate file type &amp; size ≤ 20 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45059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33472"/>
            <a:ext cx="5577840" cy="438912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70048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PDF → pdf-parse   |   TXT/MD → buffer.toString()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72384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55264"/>
            <a:ext cx="5577840" cy="438912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chunker.js: 400-word / 60-word-overlap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77056"/>
            <a:ext cx="5577840" cy="438912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13632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embed.js: BM25 tokenize each chunk → JSON array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1596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98848"/>
            <a:ext cx="5577840" cy="438912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35424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INSERT doc metadata → kb_documents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9377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20640"/>
            <a:ext cx="5577840" cy="438912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57216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INSERT all chunks → kb_chunks table (batch)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55955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5577840" cy="438912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79008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Return { docId, chunkCount, name } to admin UI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389888"/>
            <a:ext cx="5486400" cy="50292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5" y="1481328"/>
            <a:ext cx="524865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kb_documents (
  id          TEXT PRIMARY KEY,
  name        TEXT NOT NULL,
  chunk_count INTEGER NOT NULL,
  added_at    INTEGER NOT NULL
);
CREATE TABLE kb_chunks (
  rowid    INTEGER PRIMARY KEY AUTOINCREMENT,
  doc_id   TEXT NOT NULL
           REFERENCES kb_documents(id)
           ON DELETE CASCADE,
  doc_name TEXT NOT NULL,
  text     TEXT NOT NULL,
  embedding TEXT NOT NULL
  -- JSON: ["token1","token2",...]
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33  / 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6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929384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Error Handling &amp; Fallback 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577840" cy="2240280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47088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JSON Parse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2140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Gemini returns JSON wrapped in markdown fences → strip before parse. On continued failure, switch to Gemini 1.5 Flash in forced JSON mode.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577840" cy="2240280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47088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Empty KB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12140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KB-only mode + BM25 finds no relevant chunks → graceful "I don't have information on that in my knowledge base" message.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5577840" cy="2240280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8221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224527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Gemma Web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49884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Gemma models do not support Google Search tool. webSearchWeight &gt; 0 with Gemma → web search silently skipped. Admin warned in settings UI.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49039"/>
            <a:ext cx="5577840" cy="2240280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8221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224527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TTS / STT Degradation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4498848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ElevenLabs API fails → UI shows error, text response still displayed. Browser lacks Web Speech → microphone button hidden gracefully.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6053328"/>
            <a:ext cx="11247120" cy="594360"/>
          </a:xfrm>
          <a:prstGeom prst="roundRect">
            <a:avLst/>
          </a:prstGeom>
          <a:solidFill>
            <a:srgbClr val="271818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1447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2E8F0"/>
                </a:solidFill>
                <a:latin typeface="Calibri"/>
              </a:rPr>
              <a:t>All API endpoints return {"error":"message"} with correct HTTP codes (400/401/403/500). No stack traces exposed.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34  / 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613916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FULL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Complete System Interaction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657600" cy="329184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F9CF9"/>
                </a:solidFill>
                <a:latin typeface="Calibri"/>
              </a:rPr>
              <a:t>👤 User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01952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React 18 SPA
ChatPage (Markdown)
ProfilePage
AdminLayout
Web Speech API
Dark/Light Theme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8" y="283464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34458"/>
                </a:solidFill>
                <a:latin typeface="Calibri"/>
              </a:rPr>
              <a:t>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71600"/>
            <a:ext cx="3657600" cy="329184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4813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855F7"/>
                </a:solidFill>
                <a:latin typeface="Calibri"/>
              </a:rPr>
              <a:t>⚙️ API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901952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Express.js REST
JWT Auth Middleware
25+ Route Handlers
SQLite WAL
BM25 RAG Engine
Multi-Instance Spawn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5" y="283464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34458"/>
                </a:solidFill>
                <a:latin typeface="Calibri"/>
              </a:rPr>
              <a:t>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71600"/>
            <a:ext cx="3657600" cy="329184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5" y="14813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Calibri"/>
              </a:rPr>
              <a:t>🤖 AI &amp; External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5" y="1901952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Google Gemini API
(6 model variants)
ElevenLabs TTS
(11 voices)
Google Fit API
(OAuth2 read-only)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28032"/>
            <a:ext cx="2743200" cy="1371600"/>
          </a:xfrm>
          <a:prstGeom prst="roundRect">
            <a:avLst/>
          </a:prstGeom>
          <a:solidFill>
            <a:srgbClr val="272110"/>
          </a:solidFill>
          <a:ln w="9525">
            <a:solidFill>
              <a:srgbClr val="5F4B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BBF24"/>
                </a:solidFill>
                <a:latin typeface="Calibri"/>
              </a:rPr>
              <a:t>💾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30368"/>
            <a:ext cx="2651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SQLite 3
WAL Mode
~12 MB typical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28032"/>
            <a:ext cx="2743200" cy="1371600"/>
          </a:xfrm>
          <a:prstGeom prst="roundRect">
            <a:avLst/>
          </a:prstGeom>
          <a:solidFill>
            <a:srgbClr val="0F2326"/>
          </a:solidFill>
          <a:ln w="9525">
            <a:solidFill>
              <a:srgbClr val="17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3008" y="49011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2D3EE"/>
                </a:solidFill>
                <a:latin typeface="Calibri"/>
              </a:rPr>
              <a:t>🔐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5230368"/>
            <a:ext cx="2651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JWT Tokens
bcryptjs
7-day expiry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91656" y="4828032"/>
            <a:ext cx="2743200" cy="1371600"/>
          </a:xfrm>
          <a:prstGeom prst="roundRect">
            <a:avLst/>
          </a:prstGeom>
          <a:solidFill>
            <a:srgbClr val="271818"/>
          </a:solidFill>
          <a:ln w="9525">
            <a:solidFill>
              <a:srgbClr val="5E31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49011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87171"/>
                </a:solidFill>
                <a:latin typeface="Calibri"/>
              </a:rPr>
              <a:t>☁️ Infra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5230368"/>
            <a:ext cx="2651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Render.com
Netlify CDN
1 GB Disk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36024" y="4828032"/>
            <a:ext cx="2743200" cy="1371600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442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4" y="49011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855F7"/>
                </a:solidFill>
                <a:latin typeface="Calibri"/>
              </a:rPr>
              <a:t>📈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1744" y="5230368"/>
            <a:ext cx="2651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Multi-instance
Isolated DBs
Per-port spawn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35  / 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457200"/>
            <a:ext cx="48463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 i="0">
                <a:solidFill>
                  <a:srgbClr val="101C2C"/>
                </a:solidFill>
                <a:latin typeface="Calibri"/>
              </a:rPr>
              <a:t>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46320" y="1417320"/>
            <a:ext cx="1508760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SECTION 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Database schema  ·  REST API  ·  JWT lifecycle  ·  SQLite WAL  ·  Deployment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36  / 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DB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Database Schema — Core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760720" cy="4114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444752"/>
            <a:ext cx="552297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users (
  id            TEXT PRIMARY KEY,   -- UUID
  email         TEXT UNIQUE NOT NULL,
  name          TEXT NOT NULL,
  role          TEXT DEFAULT 'user',
  password_hash TEXT NOT NULL,
  login_count   INTEGER DEFAULT 0,
  last_login    INTEGER,
  note          TEXT DEFAULT '',
  profile       TEXT DEFAULT '{}',   -- JSON
  memories      TEXT DEFAULT '[]',   -- JSON
  created_at    INTEGER NOT NULL
);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53312"/>
            <a:ext cx="5486400" cy="4114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444752"/>
            <a:ext cx="5248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conversations (
  id         TEXT PRIMARY KEY,
  user_id    TEXT NOT NULL
             REFERENCES users(id)
             ON DELETE CASCADE,
  title      TEXT DEFAULT 'New Chat',
  created_at INTEGER NOT NULL,
  updated_at INTEGER NOT NULL
);
CREATE TABLE messages (
  id              TEXT PRIMARY KEY,
  conversation_id TEXT NOT NULL
    REFERENCES conversations(id)
    ON DELETE CASCADE,
  role      TEXT NOT NULL,   -- user|assistant
  text      TEXT NOT NULL,
  timestamp INTEGER NOT NULL,
  refs      TEXT   -- JSON KB source refs
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All timestamps: Unix milliseconds (INTEGER).  UUIDs: crypto.randomUUID().  CASCADE deletes maintain referential integrity.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37  / 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DB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Database Schema — Knowledge Base &amp;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760720" cy="4114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444752"/>
            <a:ext cx="552297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kb_documents (
  id          TEXT PRIMARY KEY,
  name        TEXT NOT NULL,
  chunk_count INTEGER NOT NULL,
  added_at    INTEGER NOT NULL
);
CREATE TABLE kb_chunks (
  rowid     INTEGER PRIMARY KEY AUTOINCREMENT,
  doc_id    TEXT NOT NULL
            REFERENCES kb_documents(id)
            ON DELETE CASCADE,
  doc_name  TEXT NOT NULL,
  text      TEXT NOT NULL,
  embedding TEXT NOT NULL
  -- JSON array of BM25 tokens
  -- ["diabetes","management","diet"]
);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53312"/>
            <a:ext cx="5486400" cy="4114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444752"/>
            <a:ext cx="5248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CREATE TABLE settings (
  key   TEXT PRIMARY KEY,
  value TEXT NOT NULL   -- JSON
);
-- Example settings value:
{
  "model":               "gemini-3-flash-preview",
  "systemPrompt":        "You are CIRA...",
  "style":               "balanced",
  "ragTopK":             5,
  "ragWeight":           80,
  "ownKnowledgeWeight":  60,
  "webSearchWeight":     40,
  "defaultTheme":        "dark",
  "ttsEnabled":          true,
  "defaultVoiceId":      "21m00Tc..."
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77840"/>
            <a:ext cx="11247120" cy="59436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69279"/>
            <a:ext cx="10991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Live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61888"/>
            <a:ext cx="109910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Admin changes take effect on the very next chat request — no server restart or redeploy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38  / 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298448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REST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REST API Architecture — 25+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53312"/>
          <a:ext cx="53949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AUTH LEVEL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/api/auth/signup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/api/auth/login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/api/auth/me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/api/conversations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POST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/api/conversations/:id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PATCH / DELETE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/api/conversations/:id/messages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/api/chat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/api/title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353312"/>
          <a:ext cx="54864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AUTH LEVEL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/api/user/profile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PUT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/api/user/memories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 / DELETE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/api/user/memories/extract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/api/fitness/auth-url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/api/fitness/refresh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/api/tts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User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/api/admin/*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Various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Admin JWT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/api/documents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GET/POST/DELETE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Admin JWT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49240"/>
            <a:ext cx="11247120" cy="77724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33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40679"/>
            <a:ext cx="10991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API Design Principles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91088" cy="301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Resource-oriented URLs  ·  HTTP verbs for actions  ·  Consistent {error:"msg"} response shape  ·  Stateless (JWT)  ·  JSON + MP3 content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39  / 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JWT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JWT Authentication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577840" cy="50292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444752"/>
            <a:ext cx="534009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JWT Header (base64url)
{ "alg": "HS256", "typ": "JWT" }
// JWT Payload (base64url)
{
  "uid":   "user-uuid-here",
  "email": "user@example.com",
  "name":  "John Doe",
  "role":  "user",
  "iat":   1716890400,
  "exp":   1717495200   // +7 days
}
// Signature
HMAC-SHA256(
  base64(header) + "." + base64(payload),
  JWT_SECRET
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353312"/>
            <a:ext cx="548640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353312"/>
            <a:ext cx="5029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08176"/>
            <a:ext cx="5285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🔐  Stateless 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82495"/>
            <a:ext cx="5285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No session store needed. Server only needs JWT_SECRET to verify. Scales horizontally without shared state.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76272"/>
            <a:ext cx="548640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176272"/>
            <a:ext cx="50292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31136"/>
            <a:ext cx="5285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👑  Role-Based Access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05456"/>
            <a:ext cx="5285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role claim in payload gates admin routes. requireAdmin checks role==="admin" after requireAuth verification.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999232"/>
            <a:ext cx="548640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999232"/>
            <a:ext cx="50292" cy="7315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054096"/>
            <a:ext cx="5285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💾  Client-Side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328415"/>
            <a:ext cx="5285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Token stored in localStorage as "chatbot_token". AuthContext reads on app load. 7-day expiry for session continuity.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2191"/>
            <a:ext cx="548640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22191"/>
            <a:ext cx="50292" cy="7315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877055"/>
            <a:ext cx="5285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⏱️  Token Lifecycle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151376"/>
            <a:ext cx="5285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Issued on login/signup → stored in browser → sent on every request as Bearer token → expires in 7 days → user must re-login.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40  /  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SQLITE WAL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SQLite WAL Mode — Why and 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Readers do not block writers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WAL mode allows simultaneous reads and writes without locking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Concurrent HTTP requests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Multiple users chatting simultaneously share the DB file safely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Faster write throughput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Chat message inserts complete with minimal I/O overhead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Crash recovery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Uncommitted WAL writes rolled back automatically on restart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22D3EE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Zero operational overhead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No external DB server — embedded in the process, runs anywhere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828032"/>
            <a:ext cx="5394960" cy="1828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4919472"/>
            <a:ext cx="5157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db.js initialization
const db = new Database(dbPath);
db.pragma('journal_mode = WAL');
db.pragma('foreign_keys = ON');
// WAL files created:
//   chatbot.db
//   chatbot.db-wal   (write-ahead log)
//   chatbot.db-shm   (shared memory index)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353312"/>
          <a:ext cx="54864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SQLITE WAL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POSTGRESQL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Zero config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Server needed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Concurrent R/W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✓ (WAL mode)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✓ (MVCC)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File size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~12 MB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Larger overhead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Monthly cost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$$$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Multi-host scale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Single node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Multi-host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Fit for CIRA?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Perfect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Overkill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41  /  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034540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FRONTEND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Frontend Application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Page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50292" cy="73152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46504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🔑  / — LoginPage.jsx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JWT-authenticated entry. Redirects to /chat if logged in. Sign-up and login forms with validation.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14600"/>
            <a:ext cx="50292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69464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💬  /chat — ChatPage.jsx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4378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Main interface: sidebar with conversations, message thread, input bar with STT button. Markdown rendering via react-markdown.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37560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37560"/>
            <a:ext cx="5029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92424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👤  /profile — ProfilePage.jsx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6674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Health profile form, AI memory manager, Google Fit connect button, 7-day fitness snapshot display.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160520"/>
            <a:ext cx="5394960" cy="731520"/>
          </a:xfrm>
          <a:prstGeom prst="rect">
            <a:avLst/>
          </a:prstGeom>
          <a:solidFill>
            <a:srgbClr val="0E162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5029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15383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🛡️  /admin/* — AdminLayout.jsx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970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Dashboard, Users, Chat History, KB Manager, Settings — tabbed admin interface with admin-only access guard.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State Management — Context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719072"/>
            <a:ext cx="5486400" cy="466344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810512"/>
            <a:ext cx="5248656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// AuthContext.jsx — single global context
const AuthContext = createContext();
export function AuthProvider({ children }) {
  const [user, setUser] = useState(null);
  const [token, setToken] = useState(
    localStorage.getItem('chatbot_token')
  );
  // Auto-verify JWT on mount
  useEffect(() =&gt; {
    if (token) verifyToken(token
      ).then(setUser);
  }, []);
  return (
    &lt;AuthContext.Provider
      value={{ user, token, login, logout }}
    &gt;
      {children}
    &lt;/AuthContext.Provider&gt;
  );
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42  / 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929384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BACKEND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Backend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Module Layout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5394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RESPONSIBILITY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server.js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All Express routes &amp; API logic (966 lines)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db.js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SQLite connection, schema creation, WAL setup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auth.js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requireAuth + requireAdmin middleware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rag/embed.js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BM25 tokenizer (stopwords, TF-IDF scoring)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rag/chunker.js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Text chunking (400w / 60w overlap)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rag/store.js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BM25 search: score chunks, return Top-K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start-instances.js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Multi-instance process spawner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Request Middleware Chain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19072"/>
            <a:ext cx="54864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175564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CORS (allow FRONTEND_URL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19456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468879"/>
            <a:ext cx="5486400" cy="475488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250545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express.json() body 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94436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18687"/>
            <a:ext cx="5486400" cy="475488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3255263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requireAuth (JWT verify)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3694176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968496"/>
            <a:ext cx="5486400" cy="475488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400507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requireAdmin (role check — admin routes)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443983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718304"/>
            <a:ext cx="5486400" cy="475488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475488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Route Handler → SQLite / Gemini / ElevenLabs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519379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5468112"/>
            <a:ext cx="5486400" cy="475488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59" y="550468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res.json() response to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43  / 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Deployment System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577840" cy="29718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444752"/>
            <a:ext cx="5340096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render.yaml
services:
  - type: web
    name: cira-backend
    runtime: node
    buildCommand: "cd backend &amp;&amp; npm i"
    startCommand: "node server.js"
    disk:
      name: data
      mountPath: /app/data
      sizeGB: 1
    healthCheckPath: /api/health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407408"/>
            <a:ext cx="5577840" cy="228600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4498848"/>
            <a:ext cx="534009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netlify.toml
[build]
  base    = "frontend"
  command = "npm run build"
  publish = "build"
[[redirects]]
  from   = "/*"
  to     = "/index.html"
  status = 200   # SPA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53312"/>
            <a:ext cx="5486400" cy="96012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335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44752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☁️  Netlify CDN (Frontend)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52303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Serves React SPA globally from edge nodes. Instant cache invalidation on push. Zero cold-start for users.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395728"/>
            <a:ext cx="5486400" cy="96012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6036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48716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⚙️  Render.com (Backend)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779776"/>
            <a:ext cx="52303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Node.js server + 1 GB persistent disk for SQLite. Auto-deploy on GitHub push. Zero-downtime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438144"/>
            <a:ext cx="5486400" cy="96012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529584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🤖  External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22191"/>
            <a:ext cx="52303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Google Gemini · ElevenLabs TTS · Google Fit — all HTTPS with API key auth. No vendor lock-in for AI model.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480560"/>
            <a:ext cx="5486400" cy="960120"/>
          </a:xfrm>
          <a:prstGeom prst="roundRect">
            <a:avLst/>
          </a:prstGeom>
          <a:solidFill>
            <a:srgbClr val="2B2310"/>
          </a:solidFill>
          <a:ln w="9525">
            <a:solidFill>
              <a:srgbClr val="896B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572000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BF24"/>
                </a:solidFill>
                <a:latin typeface="Calibri"/>
              </a:rPr>
              <a:t>📈  Scaling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864608"/>
            <a:ext cx="52303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SQLite for small-medium scale. Clear migration path to PostgreSQL + multiple Render instances for enterprise.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44  / 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457200"/>
            <a:ext cx="48463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0" b="1" i="0">
                <a:solidFill>
                  <a:srgbClr val="101C2C"/>
                </a:solidFill>
                <a:latin typeface="Calibri"/>
              </a:rPr>
              <a:t>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46320" y="1417320"/>
            <a:ext cx="1508760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SECTION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Architecture &amp; Advantages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Design patterns  ·  Cost efficiency  ·  Security  ·  Scalability  ·  Why CIRA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45  / 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High-Level Architecture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389888"/>
            <a:ext cx="3657600" cy="438912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F9CF9"/>
                </a:solidFill>
                <a:latin typeface="Calibri"/>
              </a:rPr>
              <a:t>Client Tier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383280" cy="13716"/>
          </a:xfrm>
          <a:prstGeom prst="rect">
            <a:avLst/>
          </a:prstGeom>
          <a:solidFill>
            <a:srgbClr val="26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📱 React 18 SPA
🔐 AuthContext (JWT)
💬 ChatPage
👤 ProfilePage
🛡 AdminLayout
🎤 Web Speech API
🌗 Dark/Light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352" y="3429000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34458"/>
                </a:solidFill>
                <a:latin typeface="Calibri"/>
              </a:rPr>
              <a:t>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89888"/>
            <a:ext cx="3657600" cy="438912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48132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855F7"/>
                </a:solidFill>
                <a:latin typeface="Calibri"/>
              </a:rPr>
              <a:t>Server 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1874519"/>
            <a:ext cx="3383280" cy="13716"/>
          </a:xfrm>
          <a:prstGeom prst="rect">
            <a:avLst/>
          </a:prstGeom>
          <a:solidFill>
            <a:srgbClr val="442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96596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⚙️ Express REST API
🔒 JWT Middleware
📋 25+ Routes
📊 SQLite WAL
🔍 BM25 RAG Engine
✂️ Text Chunker
🏗 Multi-Instance Spawn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1" y="3429000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34458"/>
                </a:solidFill>
                <a:latin typeface="Calibri"/>
              </a:rPr>
              <a:t>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1389888"/>
            <a:ext cx="3657600" cy="438912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48132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4D399"/>
                </a:solidFill>
                <a:latin typeface="Calibri"/>
              </a:rPr>
              <a:t>External APIs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874519"/>
            <a:ext cx="3383280" cy="13716"/>
          </a:xfrm>
          <a:prstGeom prst="rect">
            <a:avLst/>
          </a:prstGeom>
          <a:solidFill>
            <a:srgbClr val="1D5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🤖 Google Gemini
   (6 model variants)
🔊 ElevenLabs TTS
   (11 voices, 4 models)
🏃 Google Fit API
   (OAuth2, read-only)
📄 pdf-parse library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9788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4458"/>
                </a:solidFill>
                <a:latin typeface="Calibri"/>
              </a:rPr>
              <a:t>Client  ←→  HTTPS REST API  ←→  SQLite  |  Client  ←→  Server  ←→  Gemini / ElevenLabs / Google 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46  / 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034540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Architectural Design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5577840" cy="1508760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9CF9"/>
                </a:solidFill>
                <a:latin typeface="Calibri"/>
              </a:rPr>
              <a:t>🏛 Client-Server (3-Tier)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0136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React frontend (presentation) ↔ Express API (business logic) ↔ SQLite (data). Clean separation enables independent deployment and scaling of each 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53312"/>
            <a:ext cx="5577840" cy="1508760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447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alibri"/>
              </a:rPr>
              <a:t>🔗 REST (Stateless API)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0136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All interactions via HTTP verbs on resource URIs. Stateless requests enable horizontal scaling. JWT eliminates server-side session state entirely.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99232"/>
            <a:ext cx="5577840" cy="1508760"/>
          </a:xfrm>
          <a:prstGeom prst="roundRect">
            <a:avLst/>
          </a:prstGeom>
          <a:solidFill>
            <a:srgbClr val="0F2326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🧩 RAG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Domain knowledge retrieved at query time and injected into LLM context. Eliminates hallucination risk for factual domain questions.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999232"/>
            <a:ext cx="5577840" cy="150876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0906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🔐 Middleware Chain (AOP)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44728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Cross-cutting concerns (auth, CORS, body parsing) separated into Express middleware. Business logic stays clean. Aspect-oriented separation.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45152"/>
            <a:ext cx="5577840" cy="1508760"/>
          </a:xfrm>
          <a:prstGeom prst="roundRect">
            <a:avLst/>
          </a:prstGeom>
          <a:solidFill>
            <a:srgbClr val="27211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365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🏭 Multi-Tenant (Process Isolation)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9320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Separate OS processes per instance, each with isolated SQLite file. True data isolation without containers or VMs.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645152"/>
            <a:ext cx="5577840" cy="1508760"/>
          </a:xfrm>
          <a:prstGeom prst="roundRect">
            <a:avLst/>
          </a:prstGeom>
          <a:solidFill>
            <a:srgbClr val="271818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7365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Calibri"/>
              </a:rPr>
              <a:t>🎯 Strategy Pattern (Knowledge)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09320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RAG, own knowledge, and web search are independently togglable strategies with configurable weight percentages.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47  / 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ADVANTAGE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Zero Vector Infrastructure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657600" cy="1417320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4D399"/>
                </a:solidFill>
                <a:latin typeface="Calibri"/>
              </a:rPr>
              <a:t>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Embedding API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353312"/>
            <a:ext cx="3657600" cy="1417320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1D75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7" y="142646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2D3EE"/>
                </a:solidFill>
                <a:latin typeface="Calibri"/>
              </a:rPr>
              <a:t>&lt;5ms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BM25 Search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1353312"/>
            <a:ext cx="3657600" cy="1417320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896B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42646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BBF24"/>
                </a:solidFill>
                <a:latin typeface="Calibri"/>
              </a:rPr>
              <a:t>12 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Typical DB Size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07792"/>
            <a:ext cx="5394960" cy="3200400"/>
          </a:xfrm>
          <a:prstGeom prst="roundRect">
            <a:avLst/>
          </a:prstGeom>
          <a:solidFill>
            <a:srgbClr val="271818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992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87171"/>
                </a:solidFill>
                <a:latin typeface="Calibri"/>
              </a:rPr>
              <a:t>❌  Traditional RAG Stack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OpenAI Embedding API: ~$0.13 / million tokens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Pinecone / Weaviate: $70–250 / month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Requires separate async embedding pipeline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Slow cold-start and external API dependency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07792"/>
            <a:ext cx="5486400" cy="320040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CIRA BM25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3756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Pure JavaScript — zero external API calls at all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SQLite storage: free, embedded, fully portable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Instant synchronous indexing (&lt; 5 ms)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Fully explainable results (keyword matching)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48  / 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ADVANTAGE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Modular, Weighted Knowledge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Admins independently tune 3 knowledge source weights from 0–100%, composing custom knowledge strategies per deployment: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01952"/>
            <a:ext cx="3657600" cy="292608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933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F9CF9"/>
                </a:solidFill>
                <a:latin typeface="Calibri"/>
              </a:rPr>
              <a:t>KB Documents (RAG)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4436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Upload domain docs (PDF/TXT/MD). Ground answers strictly in your content. Set to 100% for compliance-sensitive deployments.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01952"/>
            <a:ext cx="3657600" cy="292608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7" y="19933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2E8F0"/>
                </a:solidFill>
                <a:latin typeface="Calibr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5420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855F7"/>
                </a:solidFill>
                <a:latin typeface="Calibri"/>
              </a:rPr>
              <a:t>Gemini's Own Knowledge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94436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Leverage Gemini's training data for general questions outside the KB. Set to 0% for strict KB-only mode.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11896" y="1901952"/>
            <a:ext cx="3657600" cy="2926080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9933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2E8F0"/>
                </a:solidFill>
                <a:latin typeface="Calibr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5420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D3EE"/>
                </a:solidFill>
                <a:latin typeface="Calibri"/>
              </a:rPr>
              <a:t>Live Web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2944368"/>
            <a:ext cx="34747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Calibri"/>
              </a:rPr>
              <a:t>Real-time Google Search via Gemini tool use. Always-current answers for trending topics and breaking news.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56048"/>
            <a:ext cx="11247120" cy="731520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02352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Presets:  Strict Mode (KB=100, Own=0, Web=0)   ·   Balanced (KB=80, Own=60, Web=40)   ·   General (KB=0, Own=100, Web=100)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49  /  70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ADVANTAGE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Personalization Without Manual Prompting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CIRA's personalization stack works entirely automatically — users never need to re-explain themselves: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502920" cy="50292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892807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User fills profile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212848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Health data stored permanently and auto-injected into every conversation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0087"/>
            <a:ext cx="502920" cy="502920"/>
          </a:xfrm>
          <a:prstGeom prst="roundRect">
            <a:avLst/>
          </a:prstGeom>
          <a:solidFill>
            <a:srgbClr val="144047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9008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D3EE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0837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AI extracts facts automatically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5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Memories extracted from chat history via Gemini. System learns preferences without forms.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05656"/>
            <a:ext cx="502920" cy="502920"/>
          </a:xfrm>
          <a:prstGeom prst="roundRect">
            <a:avLst/>
          </a:prstGeom>
          <a:solidFill>
            <a:srgbClr val="1F334A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1056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9CF9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12394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Fitness data syncs on 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443983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One OAuth2 connection to Google Fit. Steps, HR, weight always available in context.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21224"/>
            <a:ext cx="502920" cy="502920"/>
          </a:xfrm>
          <a:prstGeom prst="roundRect">
            <a:avLst/>
          </a:prstGeom>
          <a:solidFill>
            <a:srgbClr val="4A3B15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2122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BBF24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523951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All assembled per-request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559552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Profile + memories + fitness + KB + history = rich systemInstruction built in &lt; 20 ms.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63640" y="1353312"/>
          <a:ext cx="5486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CIRA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User profile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Stored &amp; injected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Learned memories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Auto-extracted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Fitness data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Live via OAuth2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Conversation history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Persistent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Session only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Tone / style control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Admin config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50  /  70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ADVANTAGE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Cost Efficiency — Run for Under $20/Month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53312"/>
          <a:ext cx="5394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BBF24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5F4B1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BBF24"/>
                          </a:solidFill>
                          <a:latin typeface="Calibri"/>
                        </a:rPr>
                        <a:t>CIRA COST</a:t>
                      </a:r>
                    </a:p>
                  </a:txBody>
                  <a:tcPr>
                    <a:solidFill>
                      <a:srgbClr val="5F4B1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BBF24"/>
                          </a:solidFill>
                          <a:latin typeface="Calibri"/>
                        </a:rPr>
                        <a:t>TYPICAL ALTERNATIVE</a:t>
                      </a:r>
                    </a:p>
                  </a:txBody>
                  <a:tcPr>
                    <a:solidFill>
                      <a:srgbClr val="5F4B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Hosting (Render)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$7 / month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$20–50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CDN (Netlify)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 (free tier)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$15–20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 (SQLite)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$70–250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Embedding API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$0 (BM25)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$5–50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 API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Pay-per-use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Pay-per-use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ElevenLabs TTS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 starter tier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$5+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(fixed infra)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~$12 / month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$110–370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Cost-Saving Architecture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719072"/>
            <a:ext cx="5486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BM25 over vectors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Saves $70–250/month in vector DB costs alone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SQLite over PostgreSQL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Zero database hosting cost, zero maintenance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Context API over Redux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No state management library subscription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Web Speech API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Zero STT API cost — native browser capability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Gemini Flash over GPT-4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10–50× cheaper per token for equivalent quality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BBF24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Multi-instance on one server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One Render instance serves N chatbots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51  / 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ADVANTAGE #5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Scalability &amp;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5577840" cy="2377440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9CF9"/>
                </a:solidFill>
                <a:latin typeface="Calibri"/>
              </a:rPr>
              <a:t>⚡ Stateless REST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JWT auth eliminates server-side session state. Any number of Node.js processes can serve the same JWT — horizontal scaling requires no shared session store.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53312"/>
            <a:ext cx="5577840" cy="2377440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447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alibri"/>
              </a:rPr>
              <a:t>🔀 Multi-Instance Process Isolation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10512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Each chatbot instance runs as an isolated OS process with its own SQLite file. Instance A crashing does not affect Instance B. Natural fault isolation.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67912"/>
            <a:ext cx="5577840" cy="2377440"/>
          </a:xfrm>
          <a:prstGeom prst="roundRect">
            <a:avLst/>
          </a:prstGeom>
          <a:solidFill>
            <a:srgbClr val="0F2326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593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Calibri"/>
              </a:rPr>
              <a:t>📦 SQLite WAL Concurrent I/O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25112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WAL mode handles concurrent HTTP requests without blocking. Multiple users chatting simultaneously share the DB safely — tested to ~50 concurrent users per instance.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867912"/>
            <a:ext cx="5577840" cy="237744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95935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🌐 CDN-Served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325112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React SPA is a static build served from Netlify's global edge network. Frontend scales infinitely regardless of backend load. Zero frontend server management.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52  / 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6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ADVANTAGE #6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Security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657600" cy="2176272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4708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Password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21408"/>
            <a:ext cx="34564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bcryptjs with 10 salt rounds. Never stored in plaintext. Computationally expensive to brute-force.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71600"/>
            <a:ext cx="3657600" cy="2176272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84708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JWT Signed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21408"/>
            <a:ext cx="34564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HMAC-SHA256 signed. Tamper-evident. 7-day expiry. Role claims verified server-side on every request.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71600"/>
            <a:ext cx="3657600" cy="2176272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184708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CORS Protection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121408"/>
            <a:ext cx="34564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Only FRONTEND_URL allowed as CORS origin. Blocks unauthorized cross-origin API calls from other domains.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3657600" cy="2176272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7764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1788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OAuth2 Read-Only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453128"/>
            <a:ext cx="34564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Google Fit requests only read scopes. Tokens stored server-side. Refresh tokens never exposed to frontend.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7" y="3703320"/>
            <a:ext cx="3657600" cy="2176272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37764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1788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Role-Based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453128"/>
            <a:ext cx="34564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Admin routes double-protected: requireAuth (JWT valid) + requireAdmin (role="admin"). Layered defense.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11896" y="3703320"/>
            <a:ext cx="3657600" cy="2176272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21624" y="37764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178808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Safe Markdown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453128"/>
            <a:ext cx="34564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react-markdown sanitizes HTML in AI responses by default. No XSS injection possible through AI-generated content.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53  / 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ADVANTAGE #7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Developer Experience &amp; Extensibility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Zero build config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CRA frontend, plain Node.js backend. No Webpack config, no TypeScript migration needed.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No ORM needed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Raw better-sqlite3 with synchronous API — easy to reason about, debug, and extend.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Model switching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Change Gemini model in admin settings UI — zero code change required.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Behavior without redeploy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System prompt, temperature, KB weights, TTS defaults — all in database settings.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Self-contained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Single npm install in /frontend and /backend — no monorepo tooling.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Instances in JSON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Add a new chatbot instance by adding one JSON object to instances.json.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A855F7"/>
                </a:solidFill>
                <a:latin typeface="Calibri"/>
              </a:rPr>
              <a:t>▶  </a:t>
            </a:r>
            <a:r>
              <a:rPr sz="1200" b="1">
                <a:solidFill>
                  <a:srgbClr val="FFFFFF"/>
                </a:solidFill>
                <a:latin typeface="Calibri"/>
              </a:rPr>
              <a:t>CSS design tokens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     Theme customization via CSS custom properties — no Tailwind config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Getting Started in 4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719072"/>
            <a:ext cx="5486400" cy="4526280"/>
          </a:xfrm>
          <a:prstGeom prst="rect">
            <a:avLst/>
          </a:prstGeom>
          <a:solidFill>
            <a:srgbClr val="0D1117"/>
          </a:solidFill>
          <a:ln w="9525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1655" y="1810512"/>
            <a:ext cx="5248656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5D6FF"/>
                </a:solidFill>
                <a:latin typeface="Calibri"/>
              </a:rPr>
              <a:t># 1. Clone and install
git clone https://github.com/.../cira
cd backend  &amp;&amp; npm install
cd ../frontend &amp;&amp; npm install
# 2. Configure environment
cp backend/.env.example backend/.env
# Edit: GEMINI_API_KEY, JWT_SECRET
# 3. Start all instances
node start-instances.js
# 4. Start frontend dev server
cd frontend &amp;&amp; npm start
# Ready at http://localhost:3000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54  / 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ADVANTAGE #8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Admin-First: Zero-Code Bot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Every aspect of CIRA behavior can be changed by a non-technical admin without touching any code: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01952"/>
            <a:ext cx="3657600" cy="2084831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9751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3774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Switch AI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34564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Dropdown: Gemini Flash → Gemini Pro → Gemma. Takes effect on next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01952"/>
            <a:ext cx="3657600" cy="2084831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9751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3774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Edit System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651760"/>
            <a:ext cx="34564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Change bot persona, scope, tone, language via text area in admin settings.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11896" y="1901952"/>
            <a:ext cx="3657600" cy="2084831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1624" y="19751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🌡️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37744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Response Style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651760"/>
            <a:ext cx="34564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Toggle: Precise (0.2) / Balanced (0.7) / Creative (1.2) temperature presets.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42232"/>
            <a:ext cx="3657600" cy="2084831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42153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61772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Update Knowledge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892040"/>
            <a:ext cx="34564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Upload new PDFs or delete outdated docs. Available instantly after upload.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7407" y="4142232"/>
            <a:ext cx="3657600" cy="2084831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42153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61772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Configure TTS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892040"/>
            <a:ext cx="34564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Set default voice, model, stability, similarity boost for all users.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1896" y="4142232"/>
            <a:ext cx="3657600" cy="2084831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21624" y="42153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⚖️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617720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Knowledge Weights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892040"/>
            <a:ext cx="34564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Sliders for RAG, own knowledge, and web search weights (0–100 each).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55  / 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244852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MODEL FLEXIBILITY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Multi-Model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CIRA supports all major Gemini generations, enabling cost-performance trade-offs optimized per deployment: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WEB SEARCH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D3EE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17525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gemini-3-flash-preview ⭐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Fastest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Default — recommended for all use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Best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Complex reasoning, research tasks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gemini-2.5-flash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Very Good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Balanced daily production use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gemini-2.0-flash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Budget-conscious deployments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gemma-4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Very Low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Offline / air-gapped / privacy-first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230368"/>
            <a:ext cx="11247120" cy="777240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1D75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7"/>
            <a:ext cx="10991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2D3EE"/>
                </a:solidFill>
                <a:latin typeface="Calibri"/>
              </a:rPr>
              <a:t>Admin Model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14416"/>
            <a:ext cx="10991088" cy="301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Admin switches model via settings panel dropdown. Gemma automatically disables web search. JSON-mode fallback to Gemini 1.5 Flash is hardcoded for memory extraction robustness.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56  / 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139696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DESIGN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Progressive Enhancement — Graceful Degradation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Every optional feature degrades gracefully — the core chat experience is never broken by unavailable optional services: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247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A855F7"/>
                          </a:solidFill>
                          <a:latin typeface="Calibri"/>
                        </a:rPr>
                        <a:t>IF UNAVAILABLE — FALLBACK BEHAVIOR</a:t>
                      </a:r>
                    </a:p>
                  </a:txBody>
                  <a:tcPr>
                    <a:solidFill>
                      <a:srgbClr val="44285E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ElevenLabs TTS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TTS button hidden; text response still displayed normally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Web Speech (STT)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Mic button hidden; keyboard input works normally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Google Fit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Fitness section skipped; profile data still injected into context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KB Documents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RAG weight ignored; own knowledge and web search used instead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Web Search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Silently disabled on Gemma; KB + own knowledge used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User Profile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System prompt only; no personalization context injected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394960" cy="96012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✅  Core Experience Guarantee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As long as GEMINI_API_KEY and JWT_SECRET are set, the basic text chat experience always works. All other features are opt-in.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754880"/>
            <a:ext cx="5486400" cy="960120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9CF9"/>
                </a:solidFill>
                <a:latin typeface="Calibri"/>
              </a:rPr>
              <a:t>🚀  Minimum Viable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Set GEMINI_API_KEY and JWT_SECRET → get a fully functional, authenticated, multi-conversation chatbot immediately.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57  / 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CIRA vs. Alternatives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53312"/>
          <a:ext cx="1124712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CIRA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CHATGPT API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LANGCHAIN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4F9CF9"/>
                          </a:solidFill>
                          <a:latin typeface="Calibri"/>
                        </a:rPr>
                        <a:t>BOTPRESS</a:t>
                      </a:r>
                    </a:p>
                  </a:txBody>
                  <a:tcPr>
                    <a:solidFill>
                      <a:srgbClr val="2640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Full control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 Cloud only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Vector DB needed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 BM25 only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User personalization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Deep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Manual only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Custom build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Google Fit integration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Built-in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Custom build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Admin dashboard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Full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memory extraction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✅ Auto (Gemini)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Manual API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Custom build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Monthly cost (infra)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~$12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$100+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$50–200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$200+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Setup complexity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Low (2 npm installs)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58  / 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613916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Performance Characteristics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53312"/>
          <a:ext cx="112471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D399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D523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JWT verification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Pure CPU, cryptographic hash only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SQLite reads (profile, history)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5–10 ms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WAL mode, typical 2–3 queries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BM25 search (1,000 chunks)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5 ms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Pure in-process JS, no I/O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System prompt assembly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1 ms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String concatenation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 API call ⚠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1–5 seconds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External network latency — bottleneck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SQLite message insert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2 ms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WAL mode, synchronous write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ElevenLabs TTS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300–800 ms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Depends on text length, model</a:t>
                      </a:r>
                    </a:p>
                  </a:txBody>
                  <a:tcPr>
                    <a:solidFill>
                      <a:srgbClr val="0F172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(excl. Gemini)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&lt; 25 ms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94A3B8"/>
                          </a:solidFill>
                          <a:latin typeface="Calibri"/>
                        </a:rPr>
                        <a:t>All local operations extremely fast</a:t>
                      </a:r>
                    </a:p>
                  </a:txBody>
                  <a:tcPr>
                    <a:solidFill>
                      <a:srgbClr val="0B111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6108192"/>
            <a:ext cx="11247120" cy="54864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267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199631"/>
            <a:ext cx="10991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Optimization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91088" cy="73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99% of end-to-end latency is the Gemini API call. Gemini Flash is 3–5× faster than Pro models. All local operations complete in under 25 ms total.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59  / 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719072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CASE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Real-World Deployment Configurations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657600" cy="4956048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F9CF9"/>
                </a:solidFill>
                <a:latin typeface="Calibri"/>
              </a:rPr>
              <a:t>🏥 Wellness Clinic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65376"/>
            <a:ext cx="3291840" cy="13716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• Model: Gemini 3 Flash
• KB: Clinical guidelines PDFs
• KB weight: 100% (strict)
• Web search: disabled
• Profile: full health fields
• Fitness: Google Fit enabled
• TTS: Rachel voice, Turbo v2.5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53312"/>
            <a:ext cx="3657600" cy="4956048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4447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A855F7"/>
                </a:solidFill>
                <a:latin typeface="Calibri"/>
              </a:rPr>
              <a:t>🏢 HR Policy 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4568" y="1865376"/>
            <a:ext cx="3291840" cy="13716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993392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• Model: Gemini 2.5 Flash
• KB: Employee handbook, policies
• KB weight: 90%
• Own knowledge: 40%
• Web search: disabled
• Profile: name, department only
• TTS: disabled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53312"/>
            <a:ext cx="3657600" cy="4956048"/>
          </a:xfrm>
          <a:prstGeom prst="roundRect">
            <a:avLst/>
          </a:prstGeom>
          <a:solidFill>
            <a:srgbClr val="0F2326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5" y="14447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D3EE"/>
                </a:solidFill>
                <a:latin typeface="Calibri"/>
              </a:rPr>
              <a:t>🎓 Student Tutor Bot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49055" y="1865376"/>
            <a:ext cx="3291840" cy="13716"/>
          </a:xfrm>
          <a:prstGeom prst="rect">
            <a:avLst/>
          </a:prstGeom>
          <a:solidFill>
            <a:srgbClr val="144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5" y="1993392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• Model: Gemini Flash Preview
• KB: Course PDFs, textbooks
• KB weight: 70%
• Own knowledge: 80%
• Web search: 60%
• Temperature: Creative (1.2)
• TTS: Adam voice enabled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60  / 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508760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Honest Trade-Off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5394960" cy="5074920"/>
          </a:xfrm>
          <a:prstGeom prst="roundRect">
            <a:avLst/>
          </a:prstGeom>
          <a:solidFill>
            <a:srgbClr val="11211B"/>
          </a:solidFill>
          <a:ln w="9525">
            <a:solidFill>
              <a:srgbClr val="194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✅  Where CIRA Excels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Low infrastructure cost and operational complexity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Deep personalization out of the box (profile + memory + fitness)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Fast local operations: SQLite and BM25 sub-10 ms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Admin-configurable without any code changes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Multi-instance from one codebase — real isolation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Progressive enhancement / graceful degradation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Fitness-aware AI (unique open-source differentiator)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53312"/>
            <a:ext cx="5486400" cy="5074920"/>
          </a:xfrm>
          <a:prstGeom prst="roundRect">
            <a:avLst/>
          </a:prstGeom>
          <a:solidFill>
            <a:srgbClr val="251F0F"/>
          </a:solidFill>
          <a:ln w="9525">
            <a:solidFill>
              <a:srgbClr val="4A3B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4475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⚠️  Known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10512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BM25 lacks semantic understanding (synonym gap)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SQLite not ideal for &gt; 1,000 concurrent users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No streaming responses (full text returned at once)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Dependent on Google Gemini API availability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Single-server instance — no distributed deployment yet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No built-in rate limiting or abuse protection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94A3B8"/>
                </a:solidFill>
                <a:latin typeface="Calibri"/>
              </a:rPr>
              <a:t>▶  Memory extraction limited to last 150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61  / 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193292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F9CF9"/>
                </a:solidFill>
                <a:latin typeface="Calibri"/>
              </a:rPr>
              <a:t>Near Term  (v2.0)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502920" cy="502920"/>
          </a:xfrm>
          <a:prstGeom prst="roundRect">
            <a:avLst/>
          </a:prstGeom>
          <a:solidFill>
            <a:srgbClr val="1F334A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190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9CF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3736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Streaming Responses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57400"/>
            <a:ext cx="42976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Server-Sent Events (SSE) for real-time token streaming — eliminates perceived latency for long responses.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80944"/>
            <a:ext cx="502920" cy="502920"/>
          </a:xfrm>
          <a:prstGeom prst="roundRect">
            <a:avLst/>
          </a:prstGeom>
          <a:solidFill>
            <a:srgbClr val="362149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809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99923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Hybrid BM25 + Semantic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19272"/>
            <a:ext cx="42976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Add optional vector embeddings as opt-in alongside BM25 for queries requiring semantic understanding.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42816"/>
            <a:ext cx="502920" cy="502920"/>
          </a:xfrm>
          <a:prstGeom prst="roundRect">
            <a:avLst/>
          </a:prstGeom>
          <a:solidFill>
            <a:srgbClr val="144047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2428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D3EE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26110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Rate Limiting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581144"/>
            <a:ext cx="42976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express-rate-limit middleware to prevent API abuse. Configurable per-user request limits in admin panel.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855F7"/>
                </a:solidFill>
                <a:latin typeface="Calibri"/>
              </a:rPr>
              <a:t>Long Term  (v3.0)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719072"/>
            <a:ext cx="502920" cy="502920"/>
          </a:xfrm>
          <a:prstGeom prst="roundRect">
            <a:avLst/>
          </a:prstGeom>
          <a:solidFill>
            <a:srgbClr val="362149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7190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55F7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6288" y="173736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PostgreSQL Migration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2057400"/>
            <a:ext cx="4663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Abstract DB layer to support both SQLite and PostgreSQL. Enable horizontal scaling for enterprise.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2980944"/>
            <a:ext cx="502920" cy="50292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29809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2999232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Multi-Modal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319272"/>
            <a:ext cx="4663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Image uploads in chat using Gemini's vision capabilities — analyze charts, photos, documents inline.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242816"/>
            <a:ext cx="502920" cy="502920"/>
          </a:xfrm>
          <a:prstGeom prst="roundRect">
            <a:avLst/>
          </a:prstGeom>
          <a:solidFill>
            <a:srgbClr val="4A3B15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2428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BBF24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261104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Wearable Integrations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4581144"/>
            <a:ext cx="4663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Expand beyond Google Fit to Apple Health, Fitbit, and Garmin APIs for broader fitness data coverage.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62  / 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Complete Data Flow — One Chat 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2743200" cy="5166360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F9CF9"/>
                </a:solidFill>
                <a:latin typeface="Calibri"/>
              </a:rPr>
              <a:t>USER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2468880" cy="13716"/>
          </a:xfrm>
          <a:prstGeom prst="rect">
            <a:avLst/>
          </a:prstGeom>
          <a:solidFill>
            <a:srgbClr val="1F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2697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Types message
↓
POST /api/chat
Bearer: JWT
↓
Waits for response
↓
Renders Markdown
↓
Plays TTS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371600"/>
            <a:ext cx="2743200" cy="5166360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4630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855F7"/>
                </a:solidFill>
                <a:latin typeface="Calibri"/>
              </a:rPr>
              <a:t>API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1810512"/>
            <a:ext cx="2468880" cy="13716"/>
          </a:xfrm>
          <a:prstGeom prst="rect">
            <a:avLst/>
          </a:prstGeom>
          <a:solidFill>
            <a:srgbClr val="362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920240"/>
            <a:ext cx="2697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Verifies JWT
↓
Reads user profile
↓
Reads memories
↓
Reads fitness data
↓
Reads last 10 msgs
↓
Assembles prompt
↓
Saves both msgs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371600"/>
            <a:ext cx="2743200" cy="516636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630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34D399"/>
                </a:solidFill>
                <a:latin typeface="Calibri"/>
              </a:rPr>
              <a:t>RAG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7376" y="1810512"/>
            <a:ext cx="2468880" cy="13716"/>
          </a:xfrm>
          <a:prstGeom prst="rect">
            <a:avLst/>
          </a:prstGeom>
          <a:solidFill>
            <a:srgbClr val="194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920240"/>
            <a:ext cx="2697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Tokenize query
↓
Load all KB chunks
↓
BM25 score each
↓
Sort by relevance
↓
Return Top-5
↓
With doc names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1371600"/>
            <a:ext cx="2743200" cy="5166360"/>
          </a:xfrm>
          <a:prstGeom prst="roundRect">
            <a:avLst/>
          </a:prstGeom>
          <a:solidFill>
            <a:srgbClr val="27211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4" y="14630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BBF24"/>
                </a:solidFill>
                <a:latin typeface="Calibri"/>
              </a:rPr>
              <a:t>GEMINI 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1744" y="1810512"/>
            <a:ext cx="2468880" cy="13716"/>
          </a:xfrm>
          <a:prstGeom prst="rect">
            <a:avLst/>
          </a:prstGeom>
          <a:solidFill>
            <a:srgbClr val="4A3B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1920240"/>
            <a:ext cx="2697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Receives context:
↓
System instruction
↓
User profile
↓
KB chunks
↓
Chat history
↓
Generates response
↓
Returns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63  / 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6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350008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SECURITY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Production Security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4D399"/>
                </a:solidFill>
                <a:latin typeface="Calibri"/>
              </a:rPr>
              <a:t>✅  Implemented Security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190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556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Passwords hashed with bcryptjs (10 salt rounds)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JWT signed with HMAC-SHA256, 7-day expiry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70048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700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06624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CORS restricted to FRONTEND_URL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45536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4553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82112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Admin routes double-protected (auth + role)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21024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2102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657600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OAuth2 read-only scopes for Google Fit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96512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9651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33087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OAuth tokens stored server-side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72000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5720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608576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File upload type validation (PDF/TXT/MD only)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47488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047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084064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File size limit enforced (20 MB max)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522976"/>
            <a:ext cx="320040" cy="320040"/>
          </a:xfrm>
          <a:prstGeom prst="roundRect">
            <a:avLst/>
          </a:prstGeom>
          <a:solidFill>
            <a:srgbClr val="194032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52297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559552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Markdown rendered safely — XSS prevented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13533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BBF24"/>
                </a:solidFill>
                <a:latin typeface="Calibri"/>
              </a:rPr>
              <a:t>⚠️  Known Gaps / Recommendations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1719072"/>
            <a:ext cx="320040" cy="320040"/>
          </a:xfrm>
          <a:prstGeom prst="roundRect">
            <a:avLst/>
          </a:prstGeom>
          <a:solidFill>
            <a:srgbClr val="4A3B15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17190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1755648"/>
            <a:ext cx="4846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Rate limiting not yet implemented (v2.0 roadmap)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286000"/>
            <a:ext cx="320040" cy="320040"/>
          </a:xfrm>
          <a:prstGeom prst="roundRect">
            <a:avLst/>
          </a:prstGeom>
          <a:solidFill>
            <a:srgbClr val="4A3B15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22860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2322576"/>
            <a:ext cx="4846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HTTPS enforcement delegated to Render/Netlify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2852928"/>
            <a:ext cx="320040" cy="320040"/>
          </a:xfrm>
          <a:prstGeom prst="roundRect">
            <a:avLst/>
          </a:prstGeom>
          <a:solidFill>
            <a:srgbClr val="4A3B15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8529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2889504"/>
            <a:ext cx="4846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input length limits on chat messages (add for prod)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3419856"/>
            <a:ext cx="320040" cy="320040"/>
          </a:xfrm>
          <a:prstGeom prst="roundRect">
            <a:avLst/>
          </a:prstGeom>
          <a:solidFill>
            <a:srgbClr val="4A3B15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3419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BBF24"/>
                </a:solidFill>
                <a:latin typeface="Calibri"/>
              </a:rPr>
              <a:t>!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3456432"/>
            <a:ext cx="4846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CSRF protection (SPA + JWT = mitigated)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64  / 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2350008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ADVANTAGES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Choose CIRA — 8 Competitive 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389888"/>
            <a:ext cx="2743200" cy="219456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933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9CF9"/>
                </a:solidFill>
                <a:latin typeface="Calibri"/>
              </a:rPr>
              <a:t>Cost Efficient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~$12/month vs. $110–370 for equivalent stacks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389888"/>
            <a:ext cx="2743200" cy="219456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4813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9933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855F7"/>
                </a:solidFill>
                <a:latin typeface="Calibri"/>
              </a:rPr>
              <a:t>Deep Personalization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3317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Profile + AI memories + live Google Fit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389888"/>
            <a:ext cx="2743200" cy="2194560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4813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19933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2D3EE"/>
                </a:solidFill>
                <a:latin typeface="Calibri"/>
              </a:rPr>
              <a:t>Zero-Cost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3317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BM25: no vector DB or embedding API required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1389888"/>
            <a:ext cx="2743200" cy="2194560"/>
          </a:xfrm>
          <a:prstGeom prst="roundRect">
            <a:avLst/>
          </a:prstGeom>
          <a:solidFill>
            <a:srgbClr val="12261F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14813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19933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4D399"/>
                </a:solidFill>
                <a:latin typeface="Calibri"/>
              </a:rPr>
              <a:t>Admin-First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3317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Full bot config without any code changes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767328"/>
            <a:ext cx="2743200" cy="2194560"/>
          </a:xfrm>
          <a:prstGeom prst="roundRect">
            <a:avLst/>
          </a:prstGeom>
          <a:solidFill>
            <a:srgbClr val="2B231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858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🏗️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3708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BF24"/>
                </a:solidFill>
                <a:latin typeface="Calibri"/>
              </a:rPr>
              <a:t>Multi-Instance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091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N isolated bots from one codebase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3767328"/>
            <a:ext cx="2743200" cy="2194560"/>
          </a:xfrm>
          <a:prstGeom prst="roundRect">
            <a:avLst/>
          </a:prstGeom>
          <a:solidFill>
            <a:srgbClr val="2B1A1A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3858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43708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7171"/>
                </a:solidFill>
                <a:latin typeface="Calibri"/>
              </a:rPr>
              <a:t>Model Agnostic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47091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6 Gemini variants, switch without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0216" y="3767328"/>
            <a:ext cx="2743200" cy="219456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0216" y="3858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🛡️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43708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9CF9"/>
                </a:solidFill>
                <a:latin typeface="Calibri"/>
              </a:rPr>
              <a:t>Secure by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6" y="47091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JWT + bcrypt + RBAC + CORS + OAuth2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44584" y="3767328"/>
            <a:ext cx="2743200" cy="219456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4584" y="3858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2E8F0"/>
                </a:solidFill>
                <a:latin typeface="Calibri"/>
              </a:rPr>
              <a:t>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6024" y="43708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855F7"/>
                </a:solidFill>
                <a:latin typeface="Calibri"/>
              </a:rPr>
              <a:t>Rich 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024" y="470916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TTS · STT · Markdown · themes · responsive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65  / 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929384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API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REST API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89888"/>
            <a:ext cx="5577840" cy="2267712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📐 Resource-Oriented URLs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5376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URLs identify resources: /api/conversations/:id, /api/user/memories/:id. Actions are expressed via HTTP verbs (GET/POST/PUT/PATCH/DELETE), not verbs in URLs.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89888"/>
            <a:ext cx="5577840" cy="2267712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813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F9CF9"/>
                </a:solidFill>
                <a:latin typeface="Calibri"/>
              </a:rPr>
              <a:t>🔄 Consistent Response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65376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Success: data payload JSON. Error: {"error":"message"} with appropriate HTTP code (400/401/403/500). Frontend handles both shapes uniformly.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77840" cy="2267712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04487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A855F7"/>
                </a:solidFill>
                <a:latin typeface="Calibri"/>
              </a:rPr>
              <a:t>🔗 Stateless 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88536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Every request carries full auth context (JWT Bearer token). No server session required. Enables load balancing without sticky sessions.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813048"/>
            <a:ext cx="5577840" cy="2267712"/>
          </a:xfrm>
          <a:prstGeom prst="roundRect">
            <a:avLst/>
          </a:prstGeom>
          <a:solidFill>
            <a:srgbClr val="0F2326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904487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2D3EE"/>
                </a:solidFill>
                <a:latin typeface="Calibri"/>
              </a:rPr>
              <a:t>🏷️ Content Negotiation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288536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JSON for all API responses. MP3 audio for /api/tts. Content-Type headers correctly set on all responses for client-side handling.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66  /  70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613916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Technical Innovation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57600" cy="4892040"/>
          </a:xfrm>
          <a:prstGeom prst="roundRect">
            <a:avLst/>
          </a:prstGeom>
          <a:solidFill>
            <a:srgbClr val="1A243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  <a:latin typeface="Calibri"/>
              </a:rPr>
              <a:t>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Calibri"/>
              </a:rPr>
              <a:t>AI-Powered Memory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329184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Using Gemini to analyze conversation history and extract persistent user facts is a unique approach to implicit personalization — no user survey or manual tagging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417320"/>
            <a:ext cx="3657600" cy="4892040"/>
          </a:xfrm>
          <a:prstGeom prst="roundRect">
            <a:avLst/>
          </a:prstGeom>
          <a:solidFill>
            <a:srgbClr val="1A243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7" y="160020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  <a:latin typeface="Calibri"/>
              </a:rPr>
              <a:t>⚖️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2860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855F7"/>
                </a:solidFill>
                <a:latin typeface="Calibri"/>
              </a:rPr>
              <a:t>Weighted Knowledge Blending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44568" y="2724912"/>
            <a:ext cx="329184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83464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Simultaneously weighting RAG, model knowledge, and web search is not a standard chatbot pattern. It enables fine-grained control over information sourcing per deployment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1417320"/>
            <a:ext cx="3657600" cy="4892040"/>
          </a:xfrm>
          <a:prstGeom prst="roundRect">
            <a:avLst/>
          </a:prstGeom>
          <a:solidFill>
            <a:srgbClr val="1A2436"/>
          </a:solidFill>
          <a:ln w="9525">
            <a:solidFill>
              <a:srgbClr val="334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60020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2E8F0"/>
                </a:solidFill>
                <a:latin typeface="Calibri"/>
              </a:rPr>
              <a:t>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5" y="22860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Calibri"/>
              </a:rPr>
              <a:t>Live Fitness Context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5" y="2724912"/>
            <a:ext cx="329184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834640"/>
            <a:ext cx="3383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Injecting real-time wearable data (steps, HR, weight) into AI system prompts bridges the gap between fitness tracking and actionable AI advice — a first for open-source chatbots.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67  /  70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824228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89888"/>
            <a:ext cx="11247120" cy="868680"/>
          </a:xfrm>
          <a:prstGeom prst="roundRect">
            <a:avLst/>
          </a:prstGeom>
          <a:solidFill>
            <a:srgbClr val="141D27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  <a:latin typeface="Calibri"/>
              </a:rP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4813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Personalization is the core differentiator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28800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Profile + AI memories + Google Fit creates a uniquely context-aware assistant experience.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77440"/>
            <a:ext cx="11247120" cy="868680"/>
          </a:xfrm>
          <a:prstGeom prst="roundRect">
            <a:avLst/>
          </a:prstGeom>
          <a:solidFill>
            <a:srgbClr val="11231D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505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  <a:latin typeface="Calibri"/>
              </a:rPr>
              <a:t>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BM25 eliminates the biggest cost driver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vector DB or embedding API means 90%+ reduction in RAG infrastructure costs.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64992"/>
            <a:ext cx="11247120" cy="868680"/>
          </a:xfrm>
          <a:prstGeom prst="roundRect">
            <a:avLst/>
          </a:prstGeom>
          <a:solidFill>
            <a:srgbClr val="1E1527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4381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  <a:latin typeface="Calibr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564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Admin-first design enables non-technical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803904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Every critical behavior configurable via UI — no redeploy needed for any settings change.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52544"/>
            <a:ext cx="11247120" cy="868680"/>
          </a:xfrm>
          <a:prstGeom prst="roundRect">
            <a:avLst/>
          </a:prstGeom>
          <a:solidFill>
            <a:srgbClr val="27211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425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  <a:latin typeface="Calibri"/>
              </a:rPr>
              <a:t>🏗️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4398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Architecture scales pragmatically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791456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SQLite WAL for small-medium scale, clear migration path to PostgreSQL for enterprise.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40096"/>
            <a:ext cx="11247120" cy="868680"/>
          </a:xfrm>
          <a:prstGeom prst="roundRect">
            <a:avLst/>
          </a:prstGeom>
          <a:solidFill>
            <a:srgbClr val="0F2326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  <a:latin typeface="Calibri"/>
              </a:rPr>
              <a:t>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4315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Production-ready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77900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Deploy to Render + Netlify in under 30 minutes with just 2 required API keys.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68  /  70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1403604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to Look For in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16152"/>
            <a:ext cx="1133856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89888"/>
            <a:ext cx="3657600" cy="2267712"/>
          </a:xfrm>
          <a:prstGeom prst="roundRect">
            <a:avLst/>
          </a:prstGeom>
          <a:solidFill>
            <a:srgbClr val="132A21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63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65376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Multi-Conversation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39696"/>
            <a:ext cx="3456432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Create two separate conversations. Notice each has an auto-generated title and independent message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7" y="1389888"/>
            <a:ext cx="3657600" cy="2267712"/>
          </a:xfrm>
          <a:prstGeom prst="roundRect">
            <a:avLst/>
          </a:prstGeom>
          <a:solidFill>
            <a:srgbClr val="102A2E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463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865376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RAG in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39696"/>
            <a:ext cx="3456432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Ask about content from an uploaded document. Notice source citation references appear alongside the AI response.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1896" y="1389888"/>
            <a:ext cx="3657600" cy="2267712"/>
          </a:xfrm>
          <a:prstGeom prst="roundRect">
            <a:avLst/>
          </a:prstGeom>
          <a:solidFill>
            <a:srgbClr val="17222F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463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1865376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TTS + STT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139696"/>
            <a:ext cx="3456432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Click the TTS button to hear the response in ElevenLabs voice. Use the microphone to speak a question.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13048"/>
            <a:ext cx="3657600" cy="2267712"/>
          </a:xfrm>
          <a:prstGeom prst="roundRect">
            <a:avLst/>
          </a:prstGeom>
          <a:solidFill>
            <a:srgbClr val="24182F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8862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288536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Profile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562856"/>
            <a:ext cx="3456432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Fill the health profile. Ask a fitness question — notice how the answer references your specific profile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7" y="3813048"/>
            <a:ext cx="3657600" cy="2267712"/>
          </a:xfrm>
          <a:prstGeom prst="roundRect">
            <a:avLst/>
          </a:prstGeom>
          <a:solidFill>
            <a:srgbClr val="2F2711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38862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288536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Memory Extraction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562856"/>
            <a:ext cx="3456432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After several conversations, trigger memory extraction. Watch Gemini auto-identify learned facts about you.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11896" y="3813048"/>
            <a:ext cx="3657600" cy="2267712"/>
          </a:xfrm>
          <a:prstGeom prst="roundRect">
            <a:avLst/>
          </a:prstGeom>
          <a:solidFill>
            <a:srgbClr val="2F1C1C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21624" y="38862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⚙️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288536"/>
            <a:ext cx="3456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Admin Settings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562856"/>
            <a:ext cx="3456432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Switch the AI model, change the system prompt, upload a document — all without restarting the server.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69  /  70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A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0" y="228600"/>
            <a:ext cx="1403604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4F9CF9"/>
                </a:solidFill>
                <a:latin typeface="Calibri"/>
              </a:rPr>
              <a:t>CIRA — Intelligent Conversational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493008"/>
            <a:ext cx="7589520" cy="13716"/>
          </a:xfrm>
          <a:prstGeom prst="rect">
            <a:avLst/>
          </a:prstGeom>
          <a:solidFill>
            <a:srgbClr val="334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0" y="3730752"/>
            <a:ext cx="2468880" cy="1325880"/>
          </a:xfrm>
          <a:prstGeom prst="roundRect">
            <a:avLst/>
          </a:prstGeom>
          <a:solidFill>
            <a:srgbClr val="151F2B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794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206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F9CF9"/>
                </a:solidFill>
                <a:latin typeface="Calibri"/>
              </a:rPr>
              <a:t>bashab18/chatbot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3730752"/>
            <a:ext cx="2468880" cy="1325880"/>
          </a:xfrm>
          <a:prstGeom prst="roundRect">
            <a:avLst/>
          </a:prstGeom>
          <a:solidFill>
            <a:srgbClr val="21162A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3794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4206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Powered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855F7"/>
                </a:solidFill>
                <a:latin typeface="Calibri"/>
              </a:rPr>
              <a:t>Google Gemini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730752"/>
            <a:ext cx="2468880" cy="1325880"/>
          </a:xfrm>
          <a:prstGeom prst="roundRect">
            <a:avLst/>
          </a:prstGeom>
          <a:solidFill>
            <a:srgbClr val="102629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794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  <a:latin typeface="Calibri"/>
              </a:rPr>
              <a:t>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062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Deploy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D3EE"/>
                </a:solidFill>
                <a:latin typeface="Calibri"/>
              </a:rPr>
              <a:t>Render + Netlify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321808"/>
            <a:ext cx="1298448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REACT 18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38528" y="5321808"/>
            <a:ext cx="1193292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NODE.JS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60420" y="5321808"/>
            <a:ext cx="1508760" cy="246888"/>
          </a:xfrm>
          <a:prstGeom prst="roundRect">
            <a:avLst/>
          </a:prstGeom>
          <a:solidFill>
            <a:srgbClr val="16362A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34D399"/>
                </a:solidFill>
                <a:latin typeface="Calibri"/>
              </a:rPr>
              <a:t>SQLITE WAL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7780" y="5321808"/>
            <a:ext cx="1298448" cy="246888"/>
          </a:xfrm>
          <a:prstGeom prst="roundRect">
            <a:avLst/>
          </a:prstGeom>
          <a:solidFill>
            <a:srgbClr val="12363B"/>
          </a:solidFill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22D3EE"/>
                </a:solidFill>
                <a:latin typeface="Calibri"/>
              </a:rPr>
              <a:t>BM25 RAG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4828" y="5321808"/>
            <a:ext cx="1298448" cy="246888"/>
          </a:xfrm>
          <a:prstGeom prst="roundRect">
            <a:avLst/>
          </a:prstGeom>
          <a:solidFill>
            <a:srgbClr val="3E3213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BBF24"/>
                </a:solidFill>
                <a:latin typeface="Calibri"/>
              </a:rPr>
              <a:t>JWT AUTH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1875" y="5321808"/>
            <a:ext cx="1508760" cy="246888"/>
          </a:xfrm>
          <a:prstGeom prst="roundRect">
            <a:avLst/>
          </a:prstGeom>
          <a:solidFill>
            <a:srgbClr val="3D2222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87171"/>
                </a:solidFill>
                <a:latin typeface="Calibri"/>
              </a:rPr>
              <a:t>GOOGLE FIT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89236" y="5321808"/>
            <a:ext cx="1929384" cy="246888"/>
          </a:xfrm>
          <a:prstGeom prst="roundRect">
            <a:avLst/>
          </a:prstGeom>
          <a:solidFill>
            <a:srgbClr val="1B2B3D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4F9CF9"/>
                </a:solidFill>
                <a:latin typeface="Calibri"/>
              </a:rPr>
              <a:t>ELEVENLABS TTS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047220" y="5321808"/>
            <a:ext cx="1929384" cy="246888"/>
          </a:xfrm>
          <a:prstGeom prst="roundRect">
            <a:avLst/>
          </a:prstGeom>
          <a:solidFill>
            <a:srgbClr val="2D1D3D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A855F7"/>
                </a:solidFill>
                <a:latin typeface="Calibri"/>
              </a:rPr>
              <a:t>MULTI-INSTANCE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65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334458"/>
                </a:solidFill>
                <a:latin typeface="Calibri"/>
              </a:rPr>
              <a:t>70  /  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