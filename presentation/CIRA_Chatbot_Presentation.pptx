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7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090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31152" y="0"/>
            <a:ext cx="36576" cy="6858000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502920"/>
            <a:ext cx="3386023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CONFERENCE PRESENTATION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60120"/>
            <a:ext cx="6400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"/>
              </a:rPr>
              <a:t>CIRA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6400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4F9CF9"/>
                </a:solidFill>
                <a:latin typeface="Calibri"/>
              </a:rPr>
              <a:t>Intelligent Conversational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73552"/>
            <a:ext cx="3200400" cy="64008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456432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94A3B8"/>
                </a:solidFill>
                <a:latin typeface="Calibri"/>
              </a:rPr>
              <a:t>A production-ready, personalized chatbot platform
powered by Google Gemma, RAG knowledge retrieval
and deep user profiling — built for scale.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2114092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GOOGLE GEMMA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26740" y="4800600"/>
            <a:ext cx="1527048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RAG / BM25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3516" y="4800600"/>
            <a:ext cx="1331366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REACT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4611" y="4800600"/>
            <a:ext cx="2211933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NODE.JS + EXPRESS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6272" y="4800600"/>
            <a:ext cx="1918411" cy="256032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ELEVENLABS TTS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54412" y="4800600"/>
            <a:ext cx="1527048" cy="256032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GOOGLE FIT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005840"/>
            <a:ext cx="2057400" cy="1600200"/>
          </a:xfrm>
          <a:prstGeom prst="roundRect">
            <a:avLst/>
          </a:prstGeom>
          <a:solidFill>
            <a:srgbClr val="151F2B"/>
          </a:solidFill>
          <a:ln w="7620">
            <a:solidFill>
              <a:srgbClr val="26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2523744"/>
            <a:ext cx="2057400" cy="82296"/>
          </a:xfrm>
          <a:prstGeom prst="rect">
            <a:avLst/>
          </a:prstGeom>
          <a:solidFill>
            <a:srgbClr val="33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111556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F9CF9"/>
                </a:solidFill>
                <a:latin typeface="Calibri"/>
              </a:rPr>
              <a:t>25+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16093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REST Endpoints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005840"/>
            <a:ext cx="2057400" cy="1600200"/>
          </a:xfrm>
          <a:prstGeom prst="roundRect">
            <a:avLst/>
          </a:prstGeom>
          <a:solidFill>
            <a:srgbClr val="21162A"/>
          </a:solidFill>
          <a:ln w="7620">
            <a:solidFill>
              <a:srgbClr val="442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46920" y="2523744"/>
            <a:ext cx="2057400" cy="82296"/>
          </a:xfrm>
          <a:prstGeom prst="rect">
            <a:avLst/>
          </a:prstGeom>
          <a:solidFill>
            <a:srgbClr val="6036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6920" y="111556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855F7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16093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AI Models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2834640"/>
            <a:ext cx="2057400" cy="1600200"/>
          </a:xfrm>
          <a:prstGeom prst="roundRect">
            <a:avLst/>
          </a:prstGeom>
          <a:solidFill>
            <a:srgbClr val="12261F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0" y="4352544"/>
            <a:ext cx="2057400" cy="82296"/>
          </a:xfrm>
          <a:prstGeom prst="rect">
            <a:avLst/>
          </a:prstGeom>
          <a:solidFill>
            <a:srgbClr val="267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94436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4381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Vector DBs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46920" y="2834640"/>
            <a:ext cx="2057400" cy="1600200"/>
          </a:xfrm>
          <a:prstGeom prst="roundRect">
            <a:avLst/>
          </a:prstGeom>
          <a:solidFill>
            <a:srgbClr val="2B2310"/>
          </a:solidFill>
          <a:ln w="7620">
            <a:solidFill>
              <a:srgbClr val="5F4B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46920" y="4352544"/>
            <a:ext cx="2057400" cy="82296"/>
          </a:xfrm>
          <a:prstGeom prst="rect">
            <a:avLst/>
          </a:prstGeom>
          <a:solidFill>
            <a:srgbClr val="896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46920" y="294436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BBF24"/>
                </a:solidFill>
                <a:latin typeface="Calibri"/>
              </a:rPr>
              <a:t>~$12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3438144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Monthly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01 / 70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280160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What We Will Cover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623560" cy="1389888"/>
          </a:xfrm>
          <a:prstGeom prst="roundRect">
            <a:avLst/>
          </a:prstGeom>
          <a:solidFill>
            <a:srgbClr val="141D27"/>
          </a:solidFill>
          <a:ln w="635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" y="1389888"/>
            <a:ext cx="548640" cy="1389888"/>
          </a:xfrm>
          <a:prstGeom prst="roundRect">
            <a:avLst/>
          </a:prstGeom>
          <a:solidFill>
            <a:srgbClr val="1F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89888"/>
            <a:ext cx="54864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4F9CF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536192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Introduction to CIRA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01952"/>
            <a:ext cx="4800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Overview, mission, tech stack, use cases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389888"/>
            <a:ext cx="5623560" cy="1389888"/>
          </a:xfrm>
          <a:prstGeom prst="roundRect">
            <a:avLst/>
          </a:prstGeom>
          <a:solidFill>
            <a:srgbClr val="1E1527"/>
          </a:solidFill>
          <a:ln w="635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64224" y="1389888"/>
            <a:ext cx="548640" cy="1389888"/>
          </a:xfrm>
          <a:prstGeom prst="round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389888"/>
            <a:ext cx="54864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A855F7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2592" y="1536192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Core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2592" y="1901952"/>
            <a:ext cx="4800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Chat, RAG, TTS, Admin, Multi-instance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2926080"/>
            <a:ext cx="5623560" cy="1389888"/>
          </a:xfrm>
          <a:prstGeom prst="roundRect">
            <a:avLst/>
          </a:prstGeom>
          <a:solidFill>
            <a:srgbClr val="0F2326"/>
          </a:solidFill>
          <a:ln w="635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" y="2926080"/>
            <a:ext cx="548640" cy="1389888"/>
          </a:xfrm>
          <a:prstGeom prst="roundRect">
            <a:avLst/>
          </a:prstGeom>
          <a:solidFill>
            <a:srgbClr val="144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926080"/>
            <a:ext cx="54864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2D3EE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07238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Personalization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438144"/>
            <a:ext cx="4800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Profiles, AI Memory, Google Fit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2926080"/>
            <a:ext cx="5623560" cy="1389888"/>
          </a:xfrm>
          <a:prstGeom prst="roundRect">
            <a:avLst/>
          </a:prstGeom>
          <a:solidFill>
            <a:srgbClr val="11231D"/>
          </a:solidFill>
          <a:ln w="635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4224" y="2926080"/>
            <a:ext cx="548640" cy="1389888"/>
          </a:xfrm>
          <a:prstGeom prst="roundRect">
            <a:avLst/>
          </a:prstGeom>
          <a:solidFill>
            <a:srgbClr val="194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2926080"/>
            <a:ext cx="54864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3072384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Flow Charts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2592" y="3438144"/>
            <a:ext cx="4800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Auth, Chat, RAG, Memory, OAuth flows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" y="4462272"/>
            <a:ext cx="5623560" cy="1389888"/>
          </a:xfrm>
          <a:prstGeom prst="roundRect">
            <a:avLst/>
          </a:prstGeom>
          <a:solidFill>
            <a:srgbClr val="272110"/>
          </a:solidFill>
          <a:ln w="635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8912" y="4462272"/>
            <a:ext cx="548640" cy="1389888"/>
          </a:xfrm>
          <a:prstGeom prst="roundRect">
            <a:avLst/>
          </a:prstGeom>
          <a:solidFill>
            <a:srgbClr val="4A3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4462272"/>
            <a:ext cx="54864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BBF24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608576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System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74336"/>
            <a:ext cx="4800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DB schema, APIs, JWT, WAL, deployment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64224" y="4462272"/>
            <a:ext cx="5623560" cy="1389888"/>
          </a:xfrm>
          <a:prstGeom prst="roundRect">
            <a:avLst/>
          </a:prstGeom>
          <a:solidFill>
            <a:srgbClr val="271818"/>
          </a:solidFill>
          <a:ln w="635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64224" y="4462272"/>
            <a:ext cx="548640" cy="1389888"/>
          </a:xfrm>
          <a:prstGeom prst="roundRect">
            <a:avLst/>
          </a:prstGeom>
          <a:solidFill>
            <a:srgbClr val="4A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4462272"/>
            <a:ext cx="54864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87171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592" y="4608576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Architecture &amp; Advantages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4974336"/>
            <a:ext cx="4800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Design patterns, trade-offs, roadmap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327648"/>
            <a:ext cx="113111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E3E58"/>
                </a:solidFill>
                <a:latin typeface="Calibri"/>
              </a:rPr>
              <a:t>70 slides  ·  6 sections  ·  Full Q&amp;A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02 / 70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211933" cy="256032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Gap in AI Chatbot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623560" cy="2304288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3042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Generic Responses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31136"/>
            <a:ext cx="537667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Most chatbots give one-size-fits-all answers with no knowledge of who the user is or their personal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389888"/>
            <a:ext cx="5623560" cy="2304288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4224" y="1389888"/>
            <a:ext cx="54864" cy="23042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1384" y="19202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Siloed Knowledge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4" y="2231136"/>
            <a:ext cx="537667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AI models cannot access private organizational documents without fine-tuning — which is costly and slow to 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3840480"/>
            <a:ext cx="5623560" cy="2304288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" y="3840480"/>
            <a:ext cx="54864" cy="23042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9319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370832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Data Hallucination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681728"/>
            <a:ext cx="537667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Large language models frequently generate plausible-sounding but incorrect facts outside their training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3840480"/>
            <a:ext cx="5623560" cy="2304288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4224" y="3840480"/>
            <a:ext cx="54864" cy="23042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39319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4370832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High Infrastructure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681728"/>
            <a:ext cx="537667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Vector databases, embedding APIs, and managed AI services drive up operational costs for small teams.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" y="6035040"/>
            <a:ext cx="11311128" cy="621792"/>
          </a:xfrm>
          <a:prstGeom prst="roundRect">
            <a:avLst/>
          </a:prstGeom>
          <a:solidFill>
            <a:srgbClr val="141D27"/>
          </a:solidFill>
          <a:ln w="635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2648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4F9CF9"/>
                </a:solidFill>
                <a:latin typeface="Calibri"/>
              </a:rPr>
              <a:t>✦  CIRA solves all four with a single, integrated, open-source architecture.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03 /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What is CIRA?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53312"/>
            <a:ext cx="11311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Conversational Intelligent Responsive Assistant — a full-stack AI chatbot for personalized, knowledge-grounded conversations.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1810512"/>
            <a:ext cx="5623560" cy="150876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810512"/>
            <a:ext cx="50292" cy="150876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874519"/>
            <a:ext cx="5404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🤖  AI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176272"/>
            <a:ext cx="5404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Google Gemma API with 5 model variants (Flash, Pro, open-weight). Configurable temperature presets. Dynamic system prompt injection. Web search grounding. Zero code changes to switch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4224" y="1810512"/>
            <a:ext cx="5623560" cy="150876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4224" y="1810512"/>
            <a:ext cx="50292" cy="1508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874519"/>
            <a:ext cx="5404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📚  Knowledge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176272"/>
            <a:ext cx="5404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BM25 Retrieval-Augmented Generation on private documents (PDF, TXT, Markdown). 400-word chunks, 60-word overlap, 47-stopword filter. Zero embedding API calls. K=5 top chunks per query.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3438144"/>
            <a:ext cx="5623560" cy="150876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3438144"/>
            <a:ext cx="50292" cy="1508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3502151"/>
            <a:ext cx="5404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👤  Personalization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803904"/>
            <a:ext cx="5404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health profiles (10 fields), auto-extracted AI memories (Gemma analyses 150 messages → 12 facts), and Google Fit fitness snapshot (steps, HR, weight) all injected per-request.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4224" y="3438144"/>
            <a:ext cx="5623560" cy="150876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64224" y="3438144"/>
            <a:ext cx="50292" cy="15087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3502151"/>
            <a:ext cx="5404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🛠  Admin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3803904"/>
            <a:ext cx="5404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Real-time bot configuration: model, temperature, system prompt, knowledge weights, TTS settings, KB management, user audit — all via UI, zero redeploy required.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" y="5065776"/>
            <a:ext cx="5623560" cy="150876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5065776"/>
            <a:ext cx="50292" cy="1508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5129784"/>
            <a:ext cx="5404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🔊  Rich 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431536"/>
            <a:ext cx="5404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11-voice ElevenLabs TTS + browser-native STT + full GitHub-Flavored Markdown rendering + dark/light theme switching + fully responsive mobile-first CSS design.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64224" y="5065776"/>
            <a:ext cx="5623560" cy="150876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64224" y="5065776"/>
            <a:ext cx="50292" cy="1508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5129784"/>
            <a:ext cx="5404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🏗  Multi-Instance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5431536"/>
            <a:ext cx="5404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Multiple isolated chatbot instances from one codebase: separate SQLite databases, unique TCP ports, independent data directories, distinct configurations per instance.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04 / 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114092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MISSION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Our Mission and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11311128" cy="2194560"/>
          </a:xfrm>
          <a:prstGeom prst="roundRect">
            <a:avLst/>
          </a:prstGeom>
          <a:solidFill>
            <a:srgbClr val="102629"/>
          </a:solidFill>
          <a:ln w="7620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73152" cy="21945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Calibri"/>
              </a:rPr>
              <a:t>🎯  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83664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To make intelligent, personalized AI assistants accessible to any organization — without requiring vector infrastructure, GPU clusters, or ML expertise.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3767328"/>
            <a:ext cx="11311128" cy="2194560"/>
          </a:xfrm>
          <a:prstGeom prst="roundRect">
            <a:avLst/>
          </a:prstGeom>
          <a:solidFill>
            <a:srgbClr val="21162A"/>
          </a:solidFill>
          <a:ln w="7620">
            <a:solidFill>
              <a:srgbClr val="442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3767328"/>
            <a:ext cx="73152" cy="21945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8587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855F7"/>
                </a:solidFill>
                <a:latin typeface="Calibri"/>
              </a:rPr>
              <a:t>🔭  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61104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A world where every business can deploy a context-aware AI assistant that truly knows its users, grounded in domain knowledge, deployable in minutes on a $7/month server.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05 / 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918411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KEY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CIRA by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1810512"/>
          </a:xfrm>
          <a:prstGeom prst="roundRect">
            <a:avLst/>
          </a:prstGeom>
          <a:solidFill>
            <a:srgbClr val="151F2B"/>
          </a:solidFill>
          <a:ln w="7620">
            <a:solidFill>
              <a:srgbClr val="26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118104"/>
            <a:ext cx="3703320" cy="82296"/>
          </a:xfrm>
          <a:prstGeom prst="rect">
            <a:avLst/>
          </a:prstGeom>
          <a:solidFill>
            <a:srgbClr val="33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499616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F9CF9"/>
                </a:solidFill>
                <a:latin typeface="Calibri"/>
              </a:rPr>
              <a:t>25+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993392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REST API Endpoints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1389888"/>
            <a:ext cx="3703320" cy="1810512"/>
          </a:xfrm>
          <a:prstGeom prst="roundRect">
            <a:avLst/>
          </a:prstGeom>
          <a:solidFill>
            <a:srgbClr val="21162A"/>
          </a:solidFill>
          <a:ln w="7620">
            <a:solidFill>
              <a:srgbClr val="442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1" y="3118104"/>
            <a:ext cx="3703320" cy="82296"/>
          </a:xfrm>
          <a:prstGeom prst="rect">
            <a:avLst/>
          </a:prstGeom>
          <a:solidFill>
            <a:srgbClr val="6036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1" y="1499616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855F7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1" y="1993392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Gemma Model Options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389888"/>
            <a:ext cx="3703320" cy="1810512"/>
          </a:xfrm>
          <a:prstGeom prst="roundRect">
            <a:avLst/>
          </a:prstGeom>
          <a:solidFill>
            <a:srgbClr val="102629"/>
          </a:solidFill>
          <a:ln w="7620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3118104"/>
            <a:ext cx="3703320" cy="82296"/>
          </a:xfrm>
          <a:prstGeom prst="rect">
            <a:avLst/>
          </a:prstGeom>
          <a:solidFill>
            <a:srgbClr val="1D75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1499616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D3EE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993392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ElevenLabs Voices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3383280"/>
            <a:ext cx="3703320" cy="1810512"/>
          </a:xfrm>
          <a:prstGeom prst="roundRect">
            <a:avLst/>
          </a:prstGeom>
          <a:solidFill>
            <a:srgbClr val="12261F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5111496"/>
            <a:ext cx="3703320" cy="82296"/>
          </a:xfrm>
          <a:prstGeom prst="rect">
            <a:avLst/>
          </a:prstGeom>
          <a:solidFill>
            <a:srgbClr val="267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3493008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3986784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Vector DBs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3383280"/>
            <a:ext cx="3703320" cy="1810512"/>
          </a:xfrm>
          <a:prstGeom prst="roundRect">
            <a:avLst/>
          </a:prstGeom>
          <a:solidFill>
            <a:srgbClr val="2B2310"/>
          </a:solidFill>
          <a:ln w="7620">
            <a:solidFill>
              <a:srgbClr val="5F4B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1" y="5111496"/>
            <a:ext cx="3703320" cy="82296"/>
          </a:xfrm>
          <a:prstGeom prst="rect">
            <a:avLst/>
          </a:prstGeom>
          <a:solidFill>
            <a:srgbClr val="896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0831" y="3493008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BBF24"/>
                </a:solidFill>
                <a:latin typeface="Calibri"/>
              </a:rPr>
              <a:t>7-day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1" y="3986784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JWT Token Lifetime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02752" y="3383280"/>
            <a:ext cx="3703320" cy="1810512"/>
          </a:xfrm>
          <a:prstGeom prst="roundRect">
            <a:avLst/>
          </a:prstGeom>
          <a:solidFill>
            <a:srgbClr val="2B1A1A"/>
          </a:solidFill>
          <a:ln w="7620">
            <a:solidFill>
              <a:srgbClr val="5E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02752" y="5111496"/>
            <a:ext cx="3703320" cy="82296"/>
          </a:xfrm>
          <a:prstGeom prst="rect">
            <a:avLst/>
          </a:prstGeom>
          <a:solidFill>
            <a:srgbClr val="8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2752" y="3493008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87171"/>
                </a:solidFill>
                <a:latin typeface="Calibri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3986784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Auto-Extracted Memories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" y="5376672"/>
            <a:ext cx="3703320" cy="1810512"/>
          </a:xfrm>
          <a:prstGeom prst="roundRect">
            <a:avLst/>
          </a:prstGeom>
          <a:solidFill>
            <a:srgbClr val="151F2B"/>
          </a:solidFill>
          <a:ln w="7620">
            <a:solidFill>
              <a:srgbClr val="26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" y="7104888"/>
            <a:ext cx="3703320" cy="82296"/>
          </a:xfrm>
          <a:prstGeom prst="rect">
            <a:avLst/>
          </a:prstGeom>
          <a:solidFill>
            <a:srgbClr val="33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5486400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F9CF9"/>
                </a:solidFill>
                <a:latin typeface="Calibri"/>
              </a:rPr>
              <a:t>400w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980176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RAG Chunk Size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70831" y="5376672"/>
            <a:ext cx="3703320" cy="1810512"/>
          </a:xfrm>
          <a:prstGeom prst="roundRect">
            <a:avLst/>
          </a:prstGeom>
          <a:solidFill>
            <a:srgbClr val="21162A"/>
          </a:solidFill>
          <a:ln w="7620">
            <a:solidFill>
              <a:srgbClr val="442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70831" y="7104888"/>
            <a:ext cx="3703320" cy="82296"/>
          </a:xfrm>
          <a:prstGeom prst="rect">
            <a:avLst/>
          </a:prstGeom>
          <a:solidFill>
            <a:srgbClr val="6036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1" y="5486400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855F7"/>
                </a:solidFill>
                <a:latin typeface="Calibri"/>
              </a:rPr>
              <a:t>20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0831" y="5980176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Max Doc Upload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02752" y="5376672"/>
            <a:ext cx="3703320" cy="1810512"/>
          </a:xfrm>
          <a:prstGeom prst="roundRect">
            <a:avLst/>
          </a:prstGeom>
          <a:solidFill>
            <a:srgbClr val="102629"/>
          </a:solidFill>
          <a:ln w="7620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02752" y="7104888"/>
            <a:ext cx="3703320" cy="82296"/>
          </a:xfrm>
          <a:prstGeom prst="rect">
            <a:avLst/>
          </a:prstGeom>
          <a:solidFill>
            <a:srgbClr val="1D75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752" y="5486400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D3EE"/>
                </a:solidFill>
                <a:latin typeface="Calibri"/>
              </a:rPr>
              <a:t>∞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5980176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Multi-Instance Support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06 / 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114092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Full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F9CF9"/>
                </a:solidFill>
                <a:latin typeface="Calibri"/>
              </a:rPr>
              <a:t>BACKEND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8912" y="1700784"/>
          <a:ext cx="5394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Technology / Version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Node.js 20.x LTS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Framework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Express.js 4.19.2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AI Model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Google Gemma API (5 model variants)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RAG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BM25 — pure JS, no external API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SQLite 3 + better-sqlite3 9.x (WAL)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JWT (jsonwebtoken) + bcryptjs 2.x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File Upload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multer 1.4 — PDF/TXT/MD, 20 MB cap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ElevenLabs API — 11 voices, 4 model tiers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Fitness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Google Fit REST API (OAuth2 read-only)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13898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855F7"/>
                </a:solidFill>
                <a:latin typeface="Calibri"/>
              </a:rPr>
              <a:t>FRONTEND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1700784"/>
          <a:ext cx="53035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Technology / Version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Framework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React 18.3.1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React Router v7 (SPA hash routing)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Styling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CSS Custom Properties (design tokens)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Markdown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react-markdown 9.0.1 + remark-gfm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React Context API (AuthContext only)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Build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Create React App 5.0.1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Speech Input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Web Speech API (browser-native)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Deploy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Netlify CDN (frontend) / Render.com (API)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8912" y="4773168"/>
            <a:ext cx="11311128" cy="658368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4864607"/>
            <a:ext cx="11055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🏆  Why This Stack?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5157216"/>
            <a:ext cx="11055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Zero operational overhead: no vector DB, no ML server, no GPU. Single npm install → deploy in minutes. SQLite scales to ~50 concurrent users with WAL mode.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07 /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429207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Who Uses CIRA?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2331720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3317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Healthcare Assistants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Personalized wellness guidance using user medical history, medications, allergies, and live Google Fit fitness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389888"/>
            <a:ext cx="3703320" cy="2331720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1" y="1389888"/>
            <a:ext cx="54864" cy="2331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Enterprise Support Bots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Ground AI responses in company documents (PDFs, policies) — accurate, no hallucinations, fully auditable.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389888"/>
            <a:ext cx="3703320" cy="2331720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389888"/>
            <a:ext cx="54864" cy="2331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991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Education Tutors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Upload course materials; the chatbot answers questions grounded in those specific documents for accurate tutoring.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877056"/>
            <a:ext cx="3703320" cy="2331720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877056"/>
            <a:ext cx="54864" cy="2331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🏋️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Fitness Coaches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Combine user profile (goals, weight, age) with real-time step and heart rate data for truly personalized coaching.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1" y="3877056"/>
            <a:ext cx="3703320" cy="2331720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1" y="3877056"/>
            <a:ext cx="54864" cy="2331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799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799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Financial Advisors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RAG on financial documents + user profile data for compliant, personalized financial Q&amp;A with source citations.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02752" y="3877056"/>
            <a:ext cx="3703320" cy="2331720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2752" y="3877056"/>
            <a:ext cx="54864" cy="23317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⚙️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991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Internal Knowledge Bases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991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Replace generic chatbots with a bot that knows your internal docs and processes, with exact source references.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08 / 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Deployment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389888"/>
            <a:ext cx="5486400" cy="859536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0292" cy="859536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53896"/>
            <a:ext cx="5266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☁️  Render.com  (Primary)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755648"/>
            <a:ext cx="5266944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Node.js runtime · 1 GB persistent disk · Auto-deploy from GitHub · Health check endpoint · Env variable management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340864"/>
            <a:ext cx="5486400" cy="859536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340864"/>
            <a:ext cx="50292" cy="85953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404872"/>
            <a:ext cx="5266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🌐  Netlify  (Frontend Mirror)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706624"/>
            <a:ext cx="5266944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Static React build · Global CDN · Instant cache invalidation · netlify.toml SPA redirect rules for React Router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3291840"/>
            <a:ext cx="5486400" cy="859536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291840"/>
            <a:ext cx="50292" cy="8595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3355848"/>
            <a:ext cx="5266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💻  Local / Self-Hosted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657600"/>
            <a:ext cx="5266944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`node start-instances.js` launches all instances simultaneously · Isolated data directories per instance · Dev-ready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1389888"/>
            <a:ext cx="5605272" cy="3063240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664208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54496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28232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01968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0568" y="1435608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.env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1719072"/>
            <a:ext cx="5367528" cy="2679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# Required Environment Variables
GEMINI_API_KEY=sk-...
ELEVENLABS_API_KEY=sk_...
JWT_SECRET=long-random-32-char-string
PORT=5000
NODE_ENV=production
INSTANCE_NAME="CIRA"
# Google Fit OAuth2
GOOGLE_CLIENT_ID=...
GOOGLE_CLIENT_SECRET=...
GOOGLE_REDIRECT_URI=https://...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09 / 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E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89920" y="0"/>
            <a:ext cx="1401775" cy="6858000"/>
          </a:xfrm>
          <a:prstGeom prst="rect">
            <a:avLst/>
          </a:prstGeom>
          <a:solidFill>
            <a:srgbClr val="24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182880"/>
            <a:ext cx="4114800" cy="6492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500" b="1" i="0">
                <a:solidFill>
                  <a:srgbClr val="0D1528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527048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SECTION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9966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Core Features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858768"/>
            <a:ext cx="3840480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41648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4A3B8"/>
                </a:solidFill>
                <a:latin typeface="Calibri"/>
              </a:rPr>
              <a:t>Multi-conversation chat  ·  RAG knowledge base  ·  Speech I/O  ·  Admin dashboard  ·  Multi-instance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10 / 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211933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FEATURES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Six Pillars of CIRA Functionality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2331720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3317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Conversation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Multi-session management, auto-titling, persistent history, 10-message rolling context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389888"/>
            <a:ext cx="3703320" cy="2331720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1" y="1389888"/>
            <a:ext cx="54864" cy="2331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RAG Knowledge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BM25-powered keyword retrieval from uploaded PDF, TXT, Markdown. Zero embedding API calls.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389888"/>
            <a:ext cx="3703320" cy="2331720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389888"/>
            <a:ext cx="54864" cy="2331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991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Speech I/O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Browser-native STT input + ElevenLabs high-fidelity TTS with 11 voice choices and 4 model tiers.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877056"/>
            <a:ext cx="3703320" cy="2331720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877056"/>
            <a:ext cx="54864" cy="2331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🛡️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Admin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Real-time bot settings, user management, KB uploads, conversation audit — full admin control.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1" y="3877056"/>
            <a:ext cx="3703320" cy="2331720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1" y="3877056"/>
            <a:ext cx="54864" cy="2331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799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799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Personalization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profiles + AI memory extraction + Google Fit for truly contextual responses.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02752" y="3877056"/>
            <a:ext cx="3703320" cy="2331720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2752" y="3877056"/>
            <a:ext cx="54864" cy="23317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🏗️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991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Multi-Instance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991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Multiple isolated chatbot instances from one codebase with separate configs, ports and data.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11 /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280160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Multi-Conversation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5193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Unlimited independent threads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Users create, switch between, and manage as many conversations as needed — no per-user caps.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Auto-generated titles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First user message triggers POST /api/title → Gemma generates a concise 4–6 word title; stored immediately.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Persistent SQLite storage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All messages stored with Unix-millisecond timestamps and role (user/assistant) in the messages table — fully durable.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10-message rolling context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Last 10 messages (5 turns) passed as conversation history to Gemma — balances context depth vs. token cost.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UUID-based IDs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All conversation and message IDs use crypto.randomUUID() — globally unique with zero collision risk.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Cascade deletes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Deleting a conversation removes all its messages via SQLite ON DELETE CASCADE — no orphan rows ever accumulate.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Sidebar navigation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Collapsible conversation list with live search. Sidebar auto-collapses to icon-only on screens &lt; 768 px.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Rename / delete support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PATCH /api/conversations/:id renames, DELETE removes. Both operations immediately reflected across all connected clients.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Full admin audit trail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Admin can view any user's complete conversation history via GET /api/admin/conversations with user filter params.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4768" y="1389888"/>
            <a:ext cx="5605272" cy="5193792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44768" y="1664208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54496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8232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01968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0568" y="1435608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schema.sql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1719072"/>
            <a:ext cx="5367528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conversations (
  id         TEXT PRIMARY KEY,
  user_id    TEXT NOT NULL
             REFERENCES users(id)
             ON DELETE CASCADE,
  title      TEXT DEFAULT 'New Chat',
  created_at INTEGER NOT NULL,
  updated_at INTEGER NOT NULL
);
CREATE TABLE messages (
  id              TEXT PRIMARY KEY,
  conversation_id TEXT NOT NULL
    REFERENCES conversations(id)
    ON DELETE CASCADE,
  role      TEXT,  -- user | assistant
  text      TEXT NOT NULL,
  timestamp INTEGER NOT NULL,
  refs      TEXT  -- JSON KB references
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12 /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429207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AI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AI Response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389888"/>
            <a:ext cx="5394960" cy="877824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0292" cy="877824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53896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🤖  Gemma Model Flexibility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755648"/>
            <a:ext cx="5175504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Supports gemma-3-flash-preview, gemma-2.5-pro, gemma-2.5-flash, gemma-2.0-flash, and gemma-4 open-weight variant. Admin switches model live from the settings dropdown — no code change or server restart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359152"/>
            <a:ext cx="5394960" cy="877824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359152"/>
            <a:ext cx="50292" cy="87782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423160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🌡️  Temperature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724912"/>
            <a:ext cx="5175504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Three configurable presets: Precise (0.2) for factual/compliance use, Balanced (0.7) for everyday chat, Creative (1.2) for brainstorming. Stored in the settings table and applied per-request.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3328416"/>
            <a:ext cx="5394960" cy="877824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328416"/>
            <a:ext cx="50292" cy="87782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3392424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📝  System Prompt Injection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694176"/>
            <a:ext cx="5175504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 dynamic systemInstruction is built for every request: base admin prompt + user profile + extracted memories + fitness snapshot + Top-K RAG chunks + last 10 messages. Total assembly time &lt; 20 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4297680"/>
            <a:ext cx="5394960" cy="877824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4297680"/>
            <a:ext cx="50292" cy="8778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361688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🌐  Web Search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663440"/>
            <a:ext cx="5175504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Gemma API's built-in Google Search grounding provides live web results. Weight configurable 0–100% via admin slider. Automatically disabled when Gemma open-weight models are selected (they lack tool-use support).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1389888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9CF9"/>
                </a:solidFill>
                <a:latin typeface="Calibri"/>
              </a:rPr>
              <a:t>Knowledge Source Weights  (0–100%, Admin Configurable)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8105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KB Documents (RAG)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82328" y="1892807"/>
            <a:ext cx="1673352" cy="109728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82328" y="1892807"/>
            <a:ext cx="1338681" cy="109728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19" y="1810512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4F9CF9"/>
                </a:solidFill>
                <a:latin typeface="Calibri"/>
              </a:rPr>
              <a:t>80%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3042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Gemma's Own Knowledge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82328" y="2386584"/>
            <a:ext cx="1673352" cy="109728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82328" y="2386584"/>
            <a:ext cx="1171346" cy="10972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19" y="2304288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A855F7"/>
                </a:solidFill>
                <a:latin typeface="Calibri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27980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2E8F0"/>
                </a:solidFill>
                <a:latin typeface="Calibri"/>
              </a:rPr>
              <a:t>Live Web Search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82328" y="2880360"/>
            <a:ext cx="1673352" cy="109728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82328" y="2880360"/>
            <a:ext cx="669340" cy="10972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47119" y="2798064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22D3EE"/>
                </a:solidFill>
                <a:latin typeface="Calibri"/>
              </a:rPr>
              <a:t>40%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3401568"/>
            <a:ext cx="5605272" cy="768096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5F4B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349300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BBF24"/>
                </a:solidFill>
                <a:latin typeface="Calibri"/>
              </a:rPr>
              <a:t>⚠  Gemma Open-Weight Limitation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1928" y="3785616"/>
            <a:ext cx="53492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Gemma 4 and other open-weight variants do not support the Google Search grounding tool. webSearchWeight &gt; 0 with Gemma is silently ignored at runtime. The admin settings UI displays a warning badge when a Gemma model is selected.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44768" y="4279392"/>
            <a:ext cx="5605272" cy="768096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81928" y="4370831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✅  Zero-Restart Configuration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4663440"/>
            <a:ext cx="53492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All model, temperature, knowledge weight, and system prompt changes are read from the SQLite settings table at the start of every chat request — changes take effect immediately with no server restart or redeploy.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13 / 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RAG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Knowledge Base &amp; RAG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5193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Supported formats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PDF (text extraction via pdf-parse 3.1.0), plain TXT, and Markdown files up to 20 MB per upload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Admin upload UI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Drag-and-drop KnowledgePage with live progress, chunk count display, and delete-by-document control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Smart chunking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400-word segments with 60-word overlap — overlap preserves sentence context across chunk boundaries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BM25 tokenization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Tokens stored as JSON string arrays in kb_chunks.embedding column — zero external embedding API 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47 stopwords filtered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Common words (the, is, at, which…) removed before indexing to improve retrieval signal-to-noise ratio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Top-K retrieval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Default K=5 highest-scoring BM25 chunks per query; admin-configurable via ragTopK setting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Source citations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Document name + chunk preview injected alongside each chunk; shown as references in AI response UI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Text snippets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Admin can also add free-text snippets (FAQ items, policy statements) directly — no file upload needed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Configurable weight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RAG influence 0–100% independently tunable in admin settings, separate from own-knowledge and web-search weights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KB-only strict mode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Set ragWeight=100, ownKnowledgeWeight=0, webSearchWeight=0 for fully grounded, hallucination-free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4768" y="1389888"/>
            <a:ext cx="56052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Ingestion &amp; Retrieval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755648"/>
            <a:ext cx="5605272" cy="475488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44768" y="1755648"/>
            <a:ext cx="475488" cy="47548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5564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11696" y="1792224"/>
            <a:ext cx="5001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Upload PDF / TXT / 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223113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2450591"/>
            <a:ext cx="5605272" cy="475488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44768" y="2450591"/>
            <a:ext cx="475488" cy="47548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450591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1696" y="2487168"/>
            <a:ext cx="5001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Extract raw text content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9952" y="2926080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145536"/>
            <a:ext cx="5605272" cy="475488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44768" y="3145536"/>
            <a:ext cx="475488" cy="475488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314553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3182112"/>
            <a:ext cx="5001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Chunk: 400w, 60w overlap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9952" y="362102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3840480"/>
            <a:ext cx="5605272" cy="475488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44768" y="3840480"/>
            <a:ext cx="475488" cy="47548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384048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3877056"/>
            <a:ext cx="5001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BM25 tokenize → store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9952" y="431596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4535424"/>
            <a:ext cx="5605272" cy="475488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44768" y="4535424"/>
            <a:ext cx="475488" cy="47548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4768" y="4535424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1696" y="4572000"/>
            <a:ext cx="5001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Query → BM25 score all chunks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9952" y="501091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5230368"/>
            <a:ext cx="5605272" cy="475488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44768" y="5230368"/>
            <a:ext cx="475488" cy="47548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523036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11696" y="5266944"/>
            <a:ext cx="5001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Return Top-K + source names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59952" y="570585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44768" y="5925312"/>
            <a:ext cx="5605272" cy="475488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44768" y="5925312"/>
            <a:ext cx="475488" cy="47548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592531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11696" y="5961888"/>
            <a:ext cx="50017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Inject into Gemma systemInstruction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14 /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918411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BM25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BM25 — Why No Vector Embeddings?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394960" cy="1170432"/>
          </a:xfrm>
          <a:prstGeom prst="roundRect">
            <a:avLst/>
          </a:prstGeom>
          <a:solidFill>
            <a:srgbClr val="141D27"/>
          </a:solidFill>
          <a:ln w="6350">
            <a:solidFill>
              <a:srgbClr val="26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73152" cy="1170432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630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9CF9"/>
                </a:solidFill>
                <a:latin typeface="Calibri"/>
              </a:rPr>
              <a:t>BM25 Score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792224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score(D,Q) = Σ IDF(qi) × [ tf(qi,D) × (k1+1) ] / [ tf(qi,D) + k1 × (1−b+b×|D|/avgdl)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3774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K1=1.5 (term saturation)  ·  B=0.75 (length norm)  ·  47 stopwords  ·  Top-K=5 returned  ·  IDF computed over full corpus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8912" y="274320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BM25 (CIRA)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Vector Embeddings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API calls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Per chunk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~12 MB SQLite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GBs (FAISS/Pinecone)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Search latency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5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50–200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Monthly cost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$70–250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Explainability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High (keywords)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Low (opaque)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Semantic search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Keyword-based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144768" y="1389888"/>
            <a:ext cx="5605272" cy="4251960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664208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54496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28232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01968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0568" y="1435608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embed.js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1719072"/>
            <a:ext cx="5367528" cy="3867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embed.js — BM25 constants
const K1 = 1.5;
const B  = 0.75;
const STOPWORDS = new Set([
  'the','is','at','which','on',
  'a','an','and','or','but',
  // ... 42 more
]);
// Tokenize → lowercase → filter
// → store as JSON token array
// e.g. ["diabetes","management"]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5760720"/>
            <a:ext cx="5605272" cy="594360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8" y="5852159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✅  Practical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6144768"/>
            <a:ext cx="5349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For domain-specific documents, BM25 matches semantic search accuracy at zero embedding cost.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15 / 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SPEECH I/O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Speech-to-Text &amp; Text-to-Speech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9CF9"/>
                </a:solidFill>
                <a:latin typeface="Calibri"/>
              </a:rPr>
              <a:t>🎤  Speech-to-Text (STT)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737360"/>
            <a:ext cx="539496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▸  Uses browser-native Web Speech API — zero backend cost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▸  Continuous recognition with live interim results displayed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▸  Graceful fallback when browser does not support it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▸  Works on Chrome, Edge, Safari (WebKit)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3429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855F7"/>
                </a:solidFill>
                <a:latin typeface="Calibri"/>
              </a:rPr>
              <a:t>🔊  Text-to-Speech (TTS) — ElevenLabs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3785615"/>
            <a:ext cx="5394960" cy="2798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11+ voice personalities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Rachel, Adam, and more studio-quality options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4 model tiers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Turbo v2.5 (default), Turbo v2, Multilingual v2, Monolingual v1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Stability &amp; similarity boost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Fine-tune voice characteristics per deployment need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Markdown stripped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Clean audio — no asterisks or code fences read aloud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MP3 output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44.1 kHz, 128 kbps audio returned by /api/tts endpoint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4768" y="1389888"/>
            <a:ext cx="5605272" cy="5193792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44768" y="1664208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54496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28232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01968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0568" y="1435608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server.js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1719072"/>
            <a:ext cx="5367528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POST /api/tts  —  server.js
app.post('/api/tts', requireAuth, async (req, res) =&gt; {
  const { text, voiceId, modelId,
          stability, similarityBoost } = req.body;
  // Strip markdown for clean audio
  const clean = stripMarkdown(text);
  const audio = await fetchElevenLabs({
    text:       clean,
    voice_id:   voiceId,
    model_id:   modelId,
    voice_settings: {
      stability,
      similarity_boost: similarityBoost
    }
  });
  res.set('Content-Type', 'audio/mpeg');
  res.send(audio);
});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16 / 70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280160" cy="256032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Admin Dashboard &amp; Control Panel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2304288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3042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Dashboard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31136"/>
            <a:ext cx="345643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Total users · KB documents · Avg login count · Most recent activity · Active session tracking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389888"/>
            <a:ext cx="3703320" cy="2304288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1" y="1389888"/>
            <a:ext cx="54864" cy="2304288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User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31136"/>
            <a:ext cx="345643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View all users · Add admin notes · See login history · Grant or revoke admin role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389888"/>
            <a:ext cx="3703320" cy="2304288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389888"/>
            <a:ext cx="54864" cy="23042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991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Chat History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231136"/>
            <a:ext cx="345643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Full conversation visibility for any user · Compliance and moderation support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840480"/>
            <a:ext cx="3703320" cy="2304288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840480"/>
            <a:ext cx="54864" cy="2304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9319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⚙️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370832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Bot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4681728"/>
            <a:ext cx="345643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Real-time model selection · System prompt · Temperature · RAG weights · TTS defaults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1" y="3840480"/>
            <a:ext cx="3703320" cy="2304288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1" y="3840480"/>
            <a:ext cx="54864" cy="23042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7992" y="39319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7992" y="4370832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Knowledge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4681728"/>
            <a:ext cx="345643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Drag-and-drop upload · Text snippets · View all docs · Delete documents · Chunk 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02752" y="3840480"/>
            <a:ext cx="3703320" cy="2304288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2752" y="3840480"/>
            <a:ext cx="54864" cy="23042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9319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9912" y="4370832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Access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9912" y="4681728"/>
            <a:ext cx="345643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All admin routes protected with requireAdmin middleware. JWT role claim verified on every request.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17 / 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918411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MULTI-INSTANCE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Multi-Instance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 single CIRA codebase powers multiple independent chatbot instances simultaneously, each fully isolated: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956816"/>
            <a:ext cx="5394960" cy="3401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Isolated SQLite database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Each instance has its own users, conversations, and knowledge base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Unique TCP port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5000, 5001, 5002 … configurable in instances.json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Separate data directory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Independent persistent disk location per instance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Independent bot name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Different INSTANCE_NAME and configuration per instance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Single launcher script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node start-instances.js spawns all processes at 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5468112"/>
            <a:ext cx="5394960" cy="658368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5559552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Use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5852160"/>
            <a:ext cx="51389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CIRA A for public users, CIRA B for internal staff — same codebase, completely separate databases and configs.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1389888"/>
            <a:ext cx="5605272" cy="5193792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1664208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54496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28232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01968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1435608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instances.json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719072"/>
            <a:ext cx="5367528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instances.json
[
  { "name": "CIRA A",
    "port": 5000,
    "dataDir": "data/chatbot-a" },
  { "name": "CIRA B",
    "port": 5001,
    "dataDir": "data/chatbot-b" }
]
// start-instances.js
for (const inst of instances) {
  spawn("node", ["server.js"], {
    env: { ...process.env,
      PORT:          inst.port,
      INSTANCE_NAME: inst.name,
      DATA_DIR:      inst.dataDir
    }
  });
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18 / 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624888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UI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Rich UI &amp; Experience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623560" cy="2304288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3042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Markdown Rendering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31136"/>
            <a:ext cx="537667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Full GitHub-Flavored Markdown via react-markdown. Code blocks with syntax highlighting, tables, lists — rendered safely without XSS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389888"/>
            <a:ext cx="5623560" cy="2304288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4224" y="1389888"/>
            <a:ext cx="54864" cy="2304288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1384" y="19202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Dark / Light Themes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4" y="2231136"/>
            <a:ext cx="537667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CSS custom properties (design tokens) enable instant theme switching. Dark mode is the default. Admin sets the default theme for all users.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3840480"/>
            <a:ext cx="5623560" cy="2304288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" y="3840480"/>
            <a:ext cx="54864" cy="23042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9319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370832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Fully Responsive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681728"/>
            <a:ext cx="537667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Mobile-first CSS Grid/Flexbox layout. Sidebar collapses on small screens. Touch-friendly controls. Works on phones, tablets, and desktops.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3840480"/>
            <a:ext cx="5623560" cy="2304288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4224" y="3840480"/>
            <a:ext cx="54864" cy="2304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39319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4370832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Source Citations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681728"/>
            <a:ext cx="5376672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KB document names appear as clickable references alongside AI responses for full traceability and compliance auditability.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19 /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123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89920" y="0"/>
            <a:ext cx="1401775" cy="6858000"/>
          </a:xfrm>
          <a:prstGeom prst="rect">
            <a:avLst/>
          </a:prstGeom>
          <a:solidFill>
            <a:srgbClr val="13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182880"/>
            <a:ext cx="4114800" cy="6492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500" b="1" i="0">
                <a:solidFill>
                  <a:srgbClr val="0D1528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527048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SECTION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9966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The Personalization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858768"/>
            <a:ext cx="384048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41648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4A3B8"/>
                </a:solidFill>
                <a:latin typeface="Calibri"/>
              </a:rPr>
              <a:t>User profiles  ·  AI memory extraction  ·  Google Fit integration  ·  Dynamic context assembly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20 /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0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Why Personalization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3273552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32735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Context-Aware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31136"/>
            <a:ext cx="3456432" cy="2313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The AI knows who you are — age, health conditions, goals, and history — before you type a single word.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389888"/>
            <a:ext cx="3703320" cy="3273552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1" y="1389888"/>
            <a:ext cx="54864" cy="32735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Memory Persistence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31136"/>
            <a:ext cx="3456432" cy="2313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Facts learned in one conversation persist across all future sessions. The bot gets smarter over time automatically.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389888"/>
            <a:ext cx="3703320" cy="3273552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389888"/>
            <a:ext cx="54864" cy="3273552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991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Live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231136"/>
            <a:ext cx="3456432" cy="2313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Real-time fitness data from Google Fit — steps, heart rate, weight — refreshed on demand for truly current advice.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4828032"/>
            <a:ext cx="11311128" cy="896112"/>
          </a:xfrm>
          <a:prstGeom prst="roundRect">
            <a:avLst/>
          </a:prstGeom>
          <a:solidFill>
            <a:srgbClr val="12261F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828032"/>
            <a:ext cx="73152" cy="89611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93776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All personalization data is assembled into a single dynamic systemInstruction sent with every Gemma API call — seamlessly and automatically, in under 20 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21 /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USER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User Profile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8912" y="1389888"/>
          <a:ext cx="5760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17320"/>
                <a:gridCol w="2514600"/>
              </a:tblGrid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Data Type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Example Value / Notes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Age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Number (integer)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32 — used for age-appropriate health guidance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Gender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Female — influences health reference ranges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Height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Number (cm)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168 — combined with weight for BMI calculation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Number (kg)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65.0 — compared against Google Fit measurements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Medical Conditions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"Type 2 diabetes" — triggers condition-aware advice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Medications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"Metformin 500 mg" — avoids conflicting recommendations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Allergies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"Peanuts, sulfa drugs" — critical for dietary advice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Health Goals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"Lose 5 kg by June" — used to frame all coaching advice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Activity Level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Sedentary / Lightly active / Very active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Custom 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Any user-specific context the AI should always remember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327648" y="1389888"/>
            <a:ext cx="5422392" cy="4572000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27648" y="1389888"/>
            <a:ext cx="542239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7648" y="1664208"/>
            <a:ext cx="542239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37376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11112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84848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13448" y="1435608"/>
            <a:ext cx="45994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server.js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719072"/>
            <a:ext cx="5184648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Profile injected into systemInstruction
function buildSystemPrompt(settings, user) {
  let prompt = settings.systemPrompt;
  if (user.profile?.age) {
    prompt += `\nUser Profile:
  Age:         ${user.profile.age}
  Gender:      ${user.profile.gender}
  Conditions:  ${user.profile.conditions}
  Medications: ${user.profile.medications}
  Allergies:   ${user.profile.allergies}
  Goals:       ${user.profile.goals}`;
  }
  return prompt;
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6071616"/>
            <a:ext cx="5422392" cy="566928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6163055"/>
            <a:ext cx="51663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✅  Gemma Receives Full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6455664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data injected automatically — no manual prompting needed.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22 /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429207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AI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AI Memory Extraction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CIRA automatically learns facts about users by analysing recent conversation history using Gemma: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938528"/>
            <a:ext cx="530352" cy="530352"/>
          </a:xfrm>
          <a:prstGeom prst="roundRect">
            <a:avLst/>
          </a:prstGeom>
          <a:solidFill>
            <a:srgbClr val="1F334A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93852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9CF9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0704" y="1938528"/>
            <a:ext cx="4773168" cy="640080"/>
          </a:xfrm>
          <a:prstGeom prst="roundRect">
            <a:avLst/>
          </a:prstGeom>
          <a:solidFill>
            <a:srgbClr val="141D27"/>
          </a:solidFill>
          <a:ln w="635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97510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Trigger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3113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User triggers POST /api/user/memories/extract. System fetches last 150 messages across ALL conversations for that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2944368"/>
            <a:ext cx="530352" cy="530352"/>
          </a:xfrm>
          <a:prstGeom prst="roundRect">
            <a:avLst/>
          </a:prstGeom>
          <a:solidFill>
            <a:srgbClr val="362149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94436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855F7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0704" y="2944368"/>
            <a:ext cx="4773168" cy="640080"/>
          </a:xfrm>
          <a:prstGeom prst="roundRect">
            <a:avLst/>
          </a:prstGeom>
          <a:solidFill>
            <a:srgbClr val="1E1527"/>
          </a:solidFill>
          <a:ln w="635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98094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Gemma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Gemma processes the message history with a structured prompt: "Extract exactly 12 new facts about this user not already in their memory list."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" y="3950208"/>
            <a:ext cx="530352" cy="530352"/>
          </a:xfrm>
          <a:prstGeom prst="roundRect">
            <a:avLst/>
          </a:prstGeom>
          <a:solidFill>
            <a:srgbClr val="144047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395020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2D3EE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" y="3950208"/>
            <a:ext cx="4773168" cy="640080"/>
          </a:xfrm>
          <a:prstGeom prst="roundRect">
            <a:avLst/>
          </a:prstGeom>
          <a:solidFill>
            <a:srgbClr val="0F2326"/>
          </a:solidFill>
          <a:ln w="635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98678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JSON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24281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Response expected as a JSON array of strings. Markdown code fences (```json...```) are stripped before JSON.parse() to handle common model formatting quirks.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4956048"/>
            <a:ext cx="530352" cy="530352"/>
          </a:xfrm>
          <a:prstGeom prst="roundRect">
            <a:avLst/>
          </a:prstGeom>
          <a:solidFill>
            <a:srgbClr val="4A3B15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495604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BBF24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0704" y="4956048"/>
            <a:ext cx="4773168" cy="640080"/>
          </a:xfrm>
          <a:prstGeom prst="roundRect">
            <a:avLst/>
          </a:prstGeom>
          <a:solidFill>
            <a:srgbClr val="272110"/>
          </a:solidFill>
          <a:ln w="635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99262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Deduplication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24865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Each candidate fact is compared against the first 40 characters of every existing memory — matching prefix = duplicate, skip. Prevents bloat on re-runs.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" y="5961888"/>
            <a:ext cx="530352" cy="530352"/>
          </a:xfrm>
          <a:prstGeom prst="roundRect">
            <a:avLst/>
          </a:prstGeom>
          <a:solidFill>
            <a:srgbClr val="194032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596188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" y="5961888"/>
            <a:ext cx="4773168" cy="640080"/>
          </a:xfrm>
          <a:prstGeom prst="roundRect">
            <a:avLst/>
          </a:prstGeom>
          <a:solidFill>
            <a:srgbClr val="11231D"/>
          </a:solidFill>
          <a:ln w="635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99846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Storage &amp; Injection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625449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Unique new facts appended to users.memories (JSON column). On next chat, all memories listed under "What I know about you:" in the systemInstruction.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1389888"/>
            <a:ext cx="5605272" cy="4754880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664208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54496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28232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601968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30568" y="1435608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server.js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3" y="1719072"/>
            <a:ext cx="5367528" cy="437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users.memories — JSON array column
[
  {
    "id":        "mem_abc123",
    "text":      "Prefers morning workouts",
    "source":    "auto",  // auto | manual
    "createdAt": 1716890400000
  },
  { "id": "mem_def456",
    "text": "Has lactose intolerance",
    "source": "auto",
    "createdAt": 1716890500000 }
]
// systemInstruction snippet (injected per chat)
"What I know about you:
 - Prefers morning workouts
 - Has lactose intolerance
 - Training for a 5K run in July
 - Takes vitamin D supplements daily"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44768" y="5742432"/>
            <a:ext cx="5605272" cy="658368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442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81928" y="5833872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55F7"/>
                </a:solidFill>
                <a:latin typeface="Calibri"/>
              </a:rPr>
              <a:t>Memory Management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81928" y="6126480"/>
            <a:ext cx="5349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View · manually delete · or add custom memories from the Profile Page. Re-run extraction at any time.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23 / 70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2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GOOGLE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Google Fit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389888"/>
            <a:ext cx="5394960" cy="118872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0292" cy="1188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53896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🔐  OAuth2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755648"/>
            <a:ext cx="5175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clicks "Connect Google Fit" → Google consent screen → tokens stored securely server-side per user.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688336"/>
            <a:ext cx="5394960" cy="118872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688336"/>
            <a:ext cx="50292" cy="1188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752344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📊  Data Retrieved (7 Days)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054096"/>
            <a:ext cx="5175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Daily step counts · Average heart rate (BPM) · Weight measurements — aggregated over a rolling 7-day window.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3986783"/>
            <a:ext cx="5394960" cy="118872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986783"/>
            <a:ext cx="50292" cy="11887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4050791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🧠  Context Injection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4352544"/>
            <a:ext cx="5175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Snapshot appended to Gemma systemInstruction: "7,432 steps/day, 72 BPM avg heart rate, 68.5 kg".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5285231"/>
            <a:ext cx="5394960" cy="1188720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5285231"/>
            <a:ext cx="50292" cy="1188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5349240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🔄  Refresh on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5650992"/>
            <a:ext cx="5175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manually refreshes fitness data at any time. Cached in user profile with a last-updated timestamp.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389888"/>
            <a:ext cx="5605272" cy="5193792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1664208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54496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28232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601968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0568" y="1435608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server.js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1719072"/>
            <a:ext cx="5367528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Read-only OAuth2 scopes only
const SCOPES = [
  'https://www.googleapis.com/auth/
    fitness.activity.read',
  'https://www.googleapis.com/auth/
    fitness.body.read',
  'https://www.googleapis.com/auth/
    fitness.heart_rate.read'
];
// Fitness injected into system prompt:
"Recent Fitness Data (last 7 days):
 • Avg daily steps: 7,432
 • Avg heart rate:  72 BPM
 • Latest weight:   68.5 kg
Use this to give relevant advice."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24 / 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114092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CONTEXT ASSEMBLY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Dynamic System Prompt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1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Every Gemma API call assembles a rich systemInstruction from 6 data sources in real-time (&lt; 20 ms total):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874519"/>
            <a:ext cx="3703320" cy="2084831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874519"/>
            <a:ext cx="54864" cy="2084831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9CF9"/>
                </a:solidFill>
                <a:latin typeface="Calibri"/>
              </a:rPr>
              <a:t>⚙️ 1. Admin System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Calibri"/>
              </a:rPr>
              <a:t>The base instruction block: bot persona, tone, topic scope, and any hardcoded guidelines set by the admin in the settings UI. Read from SQLite on every request.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874519"/>
            <a:ext cx="3703320" cy="2084831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1" y="1874519"/>
            <a:ext cx="54864" cy="2084831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965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55F7"/>
                </a:solidFill>
                <a:latin typeface="Calibri"/>
              </a:rPr>
              <a:t>👤 2. User Health 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28600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Calibri"/>
              </a:rPr>
              <a:t>Age, gender, height, weight, medical conditions, medications, allergies, health goals, activity level, and custom notes — up to 10 structured fields injected as a formatted block.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02752" y="1874519"/>
            <a:ext cx="3703320" cy="2084831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02752" y="1874519"/>
            <a:ext cx="54864" cy="2084831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965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💾 3. AI Extracted Memories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28600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Calibri"/>
              </a:rPr>
              <a:t>Previously learned facts about the user: "What I know about you: - prefers morning workouts - has lactose intolerance…". Extracted by Gemma from chat history, persisted across sessions.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" y="4087368"/>
            <a:ext cx="3703320" cy="2084831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" y="4087368"/>
            <a:ext cx="54864" cy="2084831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7880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BBF24"/>
                </a:solidFill>
                <a:latin typeface="Calibri"/>
              </a:rPr>
              <a:t>🏃 4. Google Fit Snapshot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498848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Calibri"/>
              </a:rPr>
              <a:t>7-day rolling fitness data if user has connected Google Fit: average daily steps, average heart rate (BPM), and latest weight measurement — refreshed on demand by the user.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1" y="4087368"/>
            <a:ext cx="3703320" cy="2084831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0831" y="4087368"/>
            <a:ext cx="54864" cy="2084831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17880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📚 5. Top-K RAG Chunks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498848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Calibri"/>
              </a:rPr>
              <a:t>The 5 highest-scoring BM25 chunks from the knowledge base for the current query. Each chunk includes the source document name for citation. Injected with doc names for traceability.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02752" y="4087368"/>
            <a:ext cx="3703320" cy="2084831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02752" y="4087368"/>
            <a:ext cx="54864" cy="2084831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417880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7171"/>
                </a:solidFill>
                <a:latin typeface="Calibri"/>
              </a:rPr>
              <a:t>🕐 6. Conversation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498848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Calibri"/>
              </a:rPr>
              <a:t>The last 10 messages (5 user turns + 5 assistant turns) from the current conversation, passed as structured history turns to Gemma for multi-turn context and coherence.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25 / 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280160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Personalization in Action — Before vs.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394960" cy="4315968"/>
          </a:xfrm>
          <a:prstGeom prst="roundRect">
            <a:avLst/>
          </a:prstGeom>
          <a:solidFill>
            <a:srgbClr val="241717"/>
          </a:solidFill>
          <a:ln w="762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73152" cy="431596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8132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Calibri"/>
              </a:rPr>
              <a:t>❌  Generic Chatbot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8470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Q: What should I eat before a workout?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212848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"Before a workout, it is generally recommended to eat a balanced meal containing carbohydrates, protein, and healthy fats 2–3 hours before exercising. Examples include oatmeal with fruit, a chicken sandwich, or a banana with peanut butter."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389888"/>
            <a:ext cx="5605272" cy="4315968"/>
          </a:xfrm>
          <a:prstGeom prst="roundRect">
            <a:avLst/>
          </a:prstGeom>
          <a:solidFill>
            <a:srgbClr val="11211B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44768" y="1389888"/>
            <a:ext cx="73152" cy="431596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8132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✅  CIRA Personalised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847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Q: What should I eat before a workout?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212848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"Given your Type 2 diabetes and Metformin prescription, avoid simple carbs that spike blood sugar. Greek yogurt with berries works well. Based on your 7,432 daily steps and goal to lose 5 kg, keep pre-workout calories under 250. Since you prefer morning workouts, eat 30–45 minutes before you start."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5852160"/>
            <a:ext cx="11311128" cy="658368"/>
          </a:xfrm>
          <a:prstGeom prst="roundRect">
            <a:avLst/>
          </a:prstGeom>
          <a:solidFill>
            <a:srgbClr val="141D27"/>
          </a:solidFill>
          <a:ln w="635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4F9CF9"/>
                </a:solidFill>
                <a:latin typeface="Calibri"/>
              </a:rPr>
              <a:t>Profile data  +  AI memories  +  fitness snapshot  =  genuinely useful, personalised advice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26 / 70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2721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89920" y="0"/>
            <a:ext cx="1401775" cy="6858000"/>
          </a:xfrm>
          <a:prstGeom prst="rect">
            <a:avLst/>
          </a:prstGeom>
          <a:solidFill>
            <a:srgbClr val="2F2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182880"/>
            <a:ext cx="4114800" cy="6492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500" b="1" i="0">
                <a:solidFill>
                  <a:srgbClr val="0D1528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527048" cy="256032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SECTION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9966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Flow Charts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858768"/>
            <a:ext cx="384048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41648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4A3B8"/>
                </a:solidFill>
                <a:latin typeface="Calibri"/>
              </a:rPr>
              <a:t>Authentication  ·  Chat processing  ·  RAG pipeline  ·  Memory extraction  ·  OAuth  ·  Error handling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27 /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429207" cy="256032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AUTH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User Registration &amp; Login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Registration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719072"/>
            <a:ext cx="5394960" cy="493776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719072"/>
            <a:ext cx="493776" cy="493776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719072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5564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User enters email + password +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3512" y="221284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2487168"/>
            <a:ext cx="5394960" cy="493776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" y="2487168"/>
            <a:ext cx="493776" cy="493776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2487168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523744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Validate: email unique, password ≥ 6 chars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298094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" y="3255263"/>
            <a:ext cx="5394960" cy="493776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" y="3255263"/>
            <a:ext cx="493776" cy="493776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55263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291839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bcryptjs hash password (10 salt rounds)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749039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4023360"/>
            <a:ext cx="5394960" cy="493776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8912" y="4023360"/>
            <a:ext cx="493776" cy="493776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4023360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059936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INSERT user row with UUID → SQLite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53512" y="451713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" y="4791456"/>
            <a:ext cx="5394960" cy="493776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8912" y="4791456"/>
            <a:ext cx="493776" cy="493776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791456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828032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Sign JWT (7-day expiry) → Return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53512" y="5285231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" y="5559552"/>
            <a:ext cx="5394960" cy="493776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8912" y="5559552"/>
            <a:ext cx="493776" cy="493776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5559552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" y="559612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Store in localStorage → Route to /chat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Every Protected Request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1719072"/>
            <a:ext cx="5605272" cy="548640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44768" y="1719072"/>
            <a:ext cx="548640" cy="548640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44768" y="17190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84847" y="1755648"/>
            <a:ext cx="49286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Client sends Bearer JWT in Authorization header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9096" y="226771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4768" y="2578608"/>
            <a:ext cx="5605272" cy="548640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44768" y="2578608"/>
            <a:ext cx="548640" cy="54864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257860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4847" y="2615184"/>
            <a:ext cx="49286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requireAuth: jwt.verify(token, JWT_SECRET)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9096" y="312724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3438144"/>
            <a:ext cx="5605272" cy="548640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144768" y="3438144"/>
            <a:ext cx="548640" cy="54864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44768" y="3438144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84847" y="3474720"/>
            <a:ext cx="49286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Admin routes: also check role === "admin"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44768" y="4315968"/>
            <a:ext cx="2697480" cy="530352"/>
          </a:xfrm>
          <a:prstGeom prst="roundRect">
            <a:avLst/>
          </a:prstGeom>
          <a:solidFill>
            <a:srgbClr val="12261F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43891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✓  Valid → continue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06840" y="4315968"/>
            <a:ext cx="2743200" cy="530352"/>
          </a:xfrm>
          <a:prstGeom prst="roundRect">
            <a:avLst/>
          </a:prstGeom>
          <a:solidFill>
            <a:srgbClr val="2B1A1A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79992" y="438912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✗  Invalid → 401 Unauthorized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28 / 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429207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CHAT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Chat Message Processing Flow — 12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" y="1389888"/>
            <a:ext cx="2798064" cy="475488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4048" y="1389888"/>
            <a:ext cx="475488" cy="475488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38988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42646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POST /api/chat  {conversationId, message}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444752"/>
            <a:ext cx="27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1389888"/>
            <a:ext cx="2798064" cy="475488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46704" y="1389888"/>
            <a:ext cx="475488" cy="47548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6704" y="138988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42646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requireAuth — jwt.verify(token, JWT_SECRET)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3056" y="1444752"/>
            <a:ext cx="27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389888"/>
            <a:ext cx="2798064" cy="475488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1389888"/>
            <a:ext cx="475488" cy="47548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8988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142646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SELECT profile + memories FROM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1444752"/>
            <a:ext cx="27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389888"/>
            <a:ext cx="2798064" cy="475488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72016" y="1389888"/>
            <a:ext cx="475488" cy="47548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38988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142646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Check fitness snapshot in user.profile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" y="3182112"/>
            <a:ext cx="2798064" cy="475488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4048" y="3182112"/>
            <a:ext cx="475488" cy="47548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318211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321868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BM25 search kb_chunks → Top-K chunks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36976"/>
            <a:ext cx="27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46704" y="3182112"/>
            <a:ext cx="2798064" cy="475488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46704" y="3182112"/>
            <a:ext cx="475488" cy="475488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6704" y="318211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1" y="321868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SELECT last 10 msgs FROM messages ORDER BY timestamp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36976"/>
            <a:ext cx="27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182112"/>
            <a:ext cx="2798064" cy="475488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09360" y="3182112"/>
            <a:ext cx="475488" cy="47548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318211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321868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SELECT all settings FROM settings table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25712" y="3236976"/>
            <a:ext cx="27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72016" y="3182112"/>
            <a:ext cx="2798064" cy="475488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272016" y="3182112"/>
            <a:ext cx="475488" cy="47548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72016" y="318211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38944" y="321868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Build systemInstruction string (&lt;20 ms total)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8" y="4974336"/>
            <a:ext cx="2798064" cy="475488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4048" y="4974336"/>
            <a:ext cx="475488" cy="47548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" y="497433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" y="501091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POST Gemma API with system + history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5029200"/>
            <a:ext cx="27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46704" y="4974336"/>
            <a:ext cx="2798064" cy="475488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346704" y="4974336"/>
            <a:ext cx="475488" cy="47548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6704" y="497433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13631" y="501091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Receive streamed / complete AI response text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63056" y="5029200"/>
            <a:ext cx="27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9360" y="4974336"/>
            <a:ext cx="2798064" cy="475488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09360" y="4974336"/>
            <a:ext cx="475488" cy="475488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497433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76288" y="501091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INSERT user msg + assistant msg → SQLite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5712" y="5029200"/>
            <a:ext cx="27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72016" y="4974336"/>
            <a:ext cx="2798064" cy="475488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272016" y="4974336"/>
            <a:ext cx="475488" cy="47548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72016" y="497433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38944" y="501091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Return {text, refs:[{docName, snippet}]}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8912" y="6400800"/>
            <a:ext cx="11311128" cy="274320"/>
          </a:xfrm>
          <a:prstGeom prst="roundRect">
            <a:avLst/>
          </a:prstGeom>
          <a:solidFill>
            <a:srgbClr val="131B24"/>
          </a:solidFill>
          <a:ln w="5080">
            <a:solidFill>
              <a:srgbClr val="2E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6446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⚡  Steps 2–8 complete in &lt; 20 ms (SQLite reads). Only the Gemma API call (step 9) adds network latency.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29 / 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2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RAG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RAG Pipeline — Detailed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Ingestion Phase (Document Upload)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719072"/>
            <a:ext cx="5394960" cy="493776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719072"/>
            <a:ext cx="493776" cy="493776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719072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5564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Admin uploads PDF/TXT/MD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3512" y="221284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2487168"/>
            <a:ext cx="5394960" cy="493776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" y="2487168"/>
            <a:ext cx="493776" cy="493776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2487168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523744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Multer validates type &amp; size ≤ 20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298094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" y="3255263"/>
            <a:ext cx="5394960" cy="493776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" y="3255263"/>
            <a:ext cx="493776" cy="493776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55263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291839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Text extraction (pdf-parse / buffer)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749039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4023360"/>
            <a:ext cx="5394960" cy="493776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8912" y="4023360"/>
            <a:ext cx="493776" cy="493776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4023360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059936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chunker.js: 400w segments, 60w overlap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53512" y="451713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" y="4791456"/>
            <a:ext cx="5394960" cy="493776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8912" y="4791456"/>
            <a:ext cx="493776" cy="493776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791456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828032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embed.js: BM25 tokenize each chunk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53512" y="5285231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" y="5559552"/>
            <a:ext cx="5394960" cy="493776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8912" y="5559552"/>
            <a:ext cx="493776" cy="493776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5559552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" y="5596128"/>
            <a:ext cx="47731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Store JSON tokens in kb_chunks 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2D3EE"/>
                </a:solidFill>
                <a:latin typeface="Calibri"/>
              </a:rPr>
              <a:t>Retrieval Phase (Chat Query)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1719072"/>
            <a:ext cx="5605272" cy="493776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44768" y="1719072"/>
            <a:ext cx="493776" cy="493776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44768" y="1719072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9983" y="1755648"/>
            <a:ext cx="4983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Tokenize user query (same BM25 tokenizer)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9096" y="221284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4768" y="2487168"/>
            <a:ext cx="5605272" cy="493776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44768" y="2487168"/>
            <a:ext cx="493776" cy="493776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2487168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9983" y="2523744"/>
            <a:ext cx="4983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Score all KB chunks with BM25 formula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9096" y="298094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3255263"/>
            <a:ext cx="5605272" cy="493776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144768" y="3255263"/>
            <a:ext cx="493776" cy="493776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44768" y="3255263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9983" y="3291839"/>
            <a:ext cx="4983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Sort by relevance score descending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69096" y="3749039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4768" y="4023360"/>
            <a:ext cx="5605272" cy="493776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144768" y="4023360"/>
            <a:ext cx="493776" cy="493776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44768" y="4023360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9983" y="4059936"/>
            <a:ext cx="4983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Return Top-5 chunks + source doc names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69096" y="451713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791456"/>
            <a:ext cx="5605272" cy="493776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44768" y="4791456"/>
            <a:ext cx="493776" cy="493776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44768" y="4791456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9983" y="4828032"/>
            <a:ext cx="4983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Inject into Gemma systemInstruction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69096" y="5285231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4768" y="5559552"/>
            <a:ext cx="5605272" cy="493776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44768" y="5559552"/>
            <a:ext cx="493776" cy="493776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44768" y="5559552"/>
            <a:ext cx="49377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9983" y="5596128"/>
            <a:ext cx="4983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AI response cites source documents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30 / 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624888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MEMORY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AI Memory Extraction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" y="1389888"/>
            <a:ext cx="3712463" cy="658368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4048" y="1389888"/>
            <a:ext cx="658368" cy="658368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389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1426464"/>
            <a:ext cx="29260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User triggers POST /api/user/memories/extract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554480"/>
            <a:ext cx="274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89888"/>
            <a:ext cx="3712463" cy="658368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1389888"/>
            <a:ext cx="658368" cy="65836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389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7" y="1426464"/>
            <a:ext cx="29260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Authenticate JWT, verify user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2" y="1554480"/>
            <a:ext cx="274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389888"/>
            <a:ext cx="3712463" cy="658368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2" y="1389888"/>
            <a:ext cx="658368" cy="65836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13898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426464"/>
            <a:ext cx="29260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Fetch last 150 messages from all conversations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2779776"/>
            <a:ext cx="3712463" cy="658368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84048" y="2779776"/>
            <a:ext cx="658368" cy="65836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2779776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2816352"/>
            <a:ext cx="29260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Build extraction prompt: "Extract 12 new user facts"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944368"/>
            <a:ext cx="274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2779776"/>
            <a:ext cx="3712463" cy="658368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79776"/>
            <a:ext cx="658368" cy="65836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779776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3207" y="2816352"/>
            <a:ext cx="29260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Call Gemma API in JSON mode (structured output)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4152" y="2944368"/>
            <a:ext cx="274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02752" y="2779776"/>
            <a:ext cx="3712463" cy="658368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02752" y="2779776"/>
            <a:ext cx="658368" cy="658368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2779776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2816352"/>
            <a:ext cx="29260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Parse JSON (strip markdown fences if present)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4169664"/>
            <a:ext cx="3712463" cy="658368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4048" y="4169664"/>
            <a:ext cx="658368" cy="65836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4169664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4206240"/>
            <a:ext cx="29260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Dedup: 40-char prefix match vs. existing memories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4334256"/>
            <a:ext cx="274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3400" y="4169664"/>
            <a:ext cx="3712463" cy="658368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43400" y="4169664"/>
            <a:ext cx="658368" cy="65836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4169664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93207" y="4206240"/>
            <a:ext cx="29260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Append new facts to users.memories JSON column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74152" y="4334256"/>
            <a:ext cx="274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2752" y="4169664"/>
            <a:ext cx="3712463" cy="658368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302752" y="4169664"/>
            <a:ext cx="658368" cy="65836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2752" y="4169664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4206240"/>
            <a:ext cx="29260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Return updated memory list to client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8912" y="5596128"/>
            <a:ext cx="11311128" cy="621792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5F4B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" y="5687568"/>
            <a:ext cx="11055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BBF24"/>
                </a:solidFill>
                <a:latin typeface="Calibri"/>
              </a:rPr>
              <a:t>Fallback Strategy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2" y="5980176"/>
            <a:ext cx="11055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If Gemma returns JSON wrapped in markdown fences, they are stripped before JSON.parse(). On parse failure, falls back to Gemma 1.5 Flash in forced JSON mode.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31 / 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2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OAUTH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Google Fit OAuth2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760720" cy="621792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" y="1389888"/>
            <a:ext cx="621792" cy="621792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8988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142646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User: GET /api/fitness/auth-url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536192"/>
            <a:ext cx="274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389888"/>
            <a:ext cx="5760720" cy="621792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46520" y="1389888"/>
            <a:ext cx="621792" cy="62179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8988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1426464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Server builds OAuth2 URL + state param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2340864"/>
            <a:ext cx="5760720" cy="621792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" y="2340864"/>
            <a:ext cx="621792" cy="621792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34086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2377440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User redirected to Google consent screen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487168"/>
            <a:ext cx="274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340864"/>
            <a:ext cx="5760720" cy="621792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2340864"/>
            <a:ext cx="621792" cy="621792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4086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377440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User grants read-only permission on Google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" y="3291840"/>
            <a:ext cx="5760720" cy="621792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8912" y="3291840"/>
            <a:ext cx="621792" cy="621792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29184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328416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Google redirects to /api/fitness/callback?code=...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438144"/>
            <a:ext cx="274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3291840"/>
            <a:ext cx="5760720" cy="621792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46520" y="3291840"/>
            <a:ext cx="621792" cy="621792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9184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9752" y="3328416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Exchange code → access_token + refresh_token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" y="4242816"/>
            <a:ext cx="5760720" cy="621792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8912" y="4242816"/>
            <a:ext cx="621792" cy="621792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424281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" y="4279392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Tokens stored in user.profile (SQLite)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389120"/>
            <a:ext cx="274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46520" y="4242816"/>
            <a:ext cx="5760720" cy="621792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46520" y="4242816"/>
            <a:ext cx="621792" cy="62179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24281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59752" y="4279392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POST /api/fitness/refresh → fetch 7-day 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8912" y="5193792"/>
            <a:ext cx="5760720" cy="621792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38912" y="5193792"/>
            <a:ext cx="621792" cy="621792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5193792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" y="5230368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Steps + HR + Weight cached in user profile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5340096"/>
            <a:ext cx="274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46520" y="5193792"/>
            <a:ext cx="5760720" cy="621792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46520" y="5193792"/>
            <a:ext cx="621792" cy="621792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5193792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59752" y="5230368"/>
            <a:ext cx="5010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Fitness snapshot injected into systemInstruction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912" y="6080760"/>
            <a:ext cx="11311128" cy="566928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6072" y="6172200"/>
            <a:ext cx="11055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🔒  Security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072" y="6464808"/>
            <a:ext cx="11055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Only read-only scopes requested. Tokens stored server-side only. Revoke anytime via DELETE /api/fitness/disconnect.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32 /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016252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DOCUMENT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Document Upload &amp; Processing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394960" cy="457200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" y="1389888"/>
            <a:ext cx="457200" cy="457200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89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426464"/>
            <a:ext cx="4809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Admin: POST /api/documents (multipart)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3512" y="184708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" y="2029967"/>
            <a:ext cx="5394960" cy="457200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" y="2029967"/>
            <a:ext cx="45720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029967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066543"/>
            <a:ext cx="4809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Multer: validate file type &amp; size ≤ 20 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3512" y="248716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2670048"/>
            <a:ext cx="5394960" cy="457200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" y="2670048"/>
            <a:ext cx="457200" cy="45720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6700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2706624"/>
            <a:ext cx="4809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PDF → pdf-parse  |  TXT/MD → buffer.toString()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312724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310127"/>
            <a:ext cx="5394960" cy="457200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" y="3310127"/>
            <a:ext cx="457200" cy="45720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310127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3346703"/>
            <a:ext cx="4809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chunker.js: 400-word / 60-word-overlap segments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767327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" y="3950208"/>
            <a:ext cx="5394960" cy="457200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8912" y="3950208"/>
            <a:ext cx="45720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39502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3986784"/>
            <a:ext cx="4809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embed.js: BM25 tokenize each chunk → JSON array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3512" y="440740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" y="4590288"/>
            <a:ext cx="5394960" cy="457200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8912" y="4590288"/>
            <a:ext cx="457200" cy="457200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4626864"/>
            <a:ext cx="4809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INSERT doc metadata → kb_documents table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53512" y="504748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8912" y="5230367"/>
            <a:ext cx="5394960" cy="457200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8912" y="5230367"/>
            <a:ext cx="457200" cy="45720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5230367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" y="5266943"/>
            <a:ext cx="4809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INSERT all chunks → kb_chunks table (batch)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53512" y="5687567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912" y="5870448"/>
            <a:ext cx="5394960" cy="457200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8912" y="5870448"/>
            <a:ext cx="45720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58704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" y="5907024"/>
            <a:ext cx="4809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Return { docId, chunkCount, name } to admin UI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4768" y="1389888"/>
            <a:ext cx="5605272" cy="4572000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44768" y="1664208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54496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28232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601968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30568" y="1435608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schema.sql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3" y="1719072"/>
            <a:ext cx="5367528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kb_documents (
  id          TEXT PRIMARY KEY,
  name        TEXT NOT NULL,
  chunk_count INTEGER NOT NULL,
  added_at    INTEGER NOT NULL
);
CREATE TABLE kb_chunks (
  rowid     INTEGER PRIMARY KEY AUTOINCREMENT,
  doc_id    TEXT NOT NULL
            REFERENCES kb_documents(id)
            ON DELETE CASCADE,
  doc_name  TEXT NOT NULL,
  text      TEXT NOT NULL,
  embedding TEXT NOT NULL
  -- JSON: ["token1","token2",...]
);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33 /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918411" cy="256032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Error Handling &amp; Fallback 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623560" cy="2267712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26771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JSON Parse Fallback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31136"/>
            <a:ext cx="5376672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Gemma returns JSON wrapped in markdown fences → strip before parse. On continued failure → Gemma 1.5 Flash in forced JSON mode.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389888"/>
            <a:ext cx="5623560" cy="2267712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4224" y="1389888"/>
            <a:ext cx="54864" cy="226771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1384" y="19202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Empty KB 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4" y="2231136"/>
            <a:ext cx="5376672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KB-only mode + BM25 finds no relevant chunks → graceful "I don't have information on that in my knowledge base" message returned.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3813048"/>
            <a:ext cx="5623560" cy="2267712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" y="3813048"/>
            <a:ext cx="54864" cy="2267712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904487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34340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Gemma Web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654296"/>
            <a:ext cx="5376672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Gemma models do not support the Google Search tool. webSearchWeight &gt; 0 with Gemma → web search silently skipped. Admin warned in settings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3813048"/>
            <a:ext cx="5623560" cy="2267712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4224" y="3813048"/>
            <a:ext cx="54864" cy="226771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3904487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434340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TTS / STT Degradation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654296"/>
            <a:ext cx="5376672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ElevenLabs API fails → UI shows error, text response still displayed. Browser lacks Web Speech → mic button hidden gracefully.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" y="6035040"/>
            <a:ext cx="11311128" cy="566928"/>
          </a:xfrm>
          <a:prstGeom prst="roundRect">
            <a:avLst/>
          </a:prstGeom>
          <a:solidFill>
            <a:srgbClr val="241717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6108192"/>
            <a:ext cx="10972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2E8F0"/>
                </a:solidFill>
                <a:latin typeface="Calibri"/>
              </a:rPr>
              <a:t>All API endpoints return consistent  {"error": "message"}  with appropriate HTTP codes (400 / 401 / 403 / 500). No stack traces exposed.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34 /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624888" cy="256032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FULL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Complete System Interaction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" y="1389888"/>
            <a:ext cx="3712463" cy="4462272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389888"/>
            <a:ext cx="73152" cy="4462272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481328"/>
            <a:ext cx="35295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4F9CF9"/>
                </a:solidFill>
                <a:latin typeface="Calibri"/>
              </a:rPr>
              <a:t>Client 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1865376"/>
            <a:ext cx="3383280" cy="10972"/>
          </a:xfrm>
          <a:prstGeom prst="rect">
            <a:avLst/>
          </a:prstGeom>
          <a:solidFill>
            <a:srgbClr val="1F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975104"/>
            <a:ext cx="3529584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📱 React 18 SPA
🔐 AuthContext (JWT)
💬 ChatPage
👤 ProfilePage
🛡 AdminLayout
🎤 Web Speech API
🌗 Dark/Light Theme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86784" y="3364992"/>
            <a:ext cx="4389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E3E58"/>
                </a:solidFill>
                <a:latin typeface="Calibri"/>
              </a:rPr>
              <a:t>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89888"/>
            <a:ext cx="3712463" cy="4462272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89888"/>
            <a:ext cx="73152" cy="44622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481328"/>
            <a:ext cx="35295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A855F7"/>
                </a:solidFill>
                <a:latin typeface="Calibri"/>
              </a:rPr>
              <a:t>Server Tier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1416" y="1865376"/>
            <a:ext cx="3383280" cy="10972"/>
          </a:xfrm>
          <a:prstGeom prst="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975104"/>
            <a:ext cx="3529584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⚙️ Express REST API
🔒 JWT Middleware
📋 25+ Route Handlers
📊 SQLite WAL
🔍 BM25 RAG Engine
✂️ Text Chunker
🏗 Multi-Instance Spawn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46136" y="3364992"/>
            <a:ext cx="4389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E3E58"/>
                </a:solidFill>
                <a:latin typeface="Calibri"/>
              </a:rPr>
              <a:t>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1389888"/>
            <a:ext cx="3712463" cy="4462272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1389888"/>
            <a:ext cx="73152" cy="446227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481328"/>
            <a:ext cx="35295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34D399"/>
                </a:solidFill>
                <a:latin typeface="Calibri"/>
              </a:rPr>
              <a:t>External APIs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8" y="1865376"/>
            <a:ext cx="3383280" cy="10972"/>
          </a:xfrm>
          <a:prstGeom prst="rect">
            <a:avLst/>
          </a:prstGeom>
          <a:solidFill>
            <a:srgbClr val="194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1975104"/>
            <a:ext cx="3529584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🤖 Google Gemma
   (6 model variants)
🔊 ElevenLabs TTS
   (11 voices, 4 models)
🏃 Google Fit API
   (OAuth2, read-only)
📄 pdf-parse library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961888"/>
            <a:ext cx="2798064" cy="658368"/>
          </a:xfrm>
          <a:prstGeom prst="roundRect">
            <a:avLst/>
          </a:prstGeom>
          <a:solidFill>
            <a:srgbClr val="251F0F"/>
          </a:solidFill>
          <a:ln w="635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167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Calibri"/>
              </a:rPr>
              <a:t>💾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7278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SQLite WAL
~12 MB typical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46704" y="5961888"/>
            <a:ext cx="2798064" cy="658368"/>
          </a:xfrm>
          <a:prstGeom prst="roundRect">
            <a:avLst/>
          </a:prstGeom>
          <a:solidFill>
            <a:srgbClr val="0F2123"/>
          </a:solidFill>
          <a:ln w="635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19856" y="60167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D3EE"/>
                </a:solidFill>
                <a:latin typeface="Calibri"/>
              </a:rPr>
              <a:t>🔐 Auth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9856" y="627278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JWT + bcrypt
7-day expiry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5961888"/>
            <a:ext cx="2798064" cy="658368"/>
          </a:xfrm>
          <a:prstGeom prst="roundRect">
            <a:avLst/>
          </a:prstGeom>
          <a:solidFill>
            <a:srgbClr val="241717"/>
          </a:solidFill>
          <a:ln w="635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2512" y="60167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87171"/>
                </a:solidFill>
                <a:latin typeface="Calibri"/>
              </a:rPr>
              <a:t>☁️ Hosting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627278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Render + Netlify
1 GB Disk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72016" y="5961888"/>
            <a:ext cx="2798064" cy="658368"/>
          </a:xfrm>
          <a:prstGeom prst="roundRect">
            <a:avLst/>
          </a:prstGeom>
          <a:solidFill>
            <a:srgbClr val="1C1424"/>
          </a:solidFill>
          <a:ln w="635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60167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855F7"/>
                </a:solidFill>
                <a:latin typeface="Calibri"/>
              </a:rPr>
              <a:t>📈 Scaling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8" y="627278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Multi-instance
Isolated DBs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35 /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F2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89920" y="0"/>
            <a:ext cx="1401775" cy="6858000"/>
          </a:xfrm>
          <a:prstGeom prst="rect">
            <a:avLst/>
          </a:prstGeom>
          <a:solidFill>
            <a:srgbClr val="10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182880"/>
            <a:ext cx="4114800" cy="6492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500" b="1" i="0">
                <a:solidFill>
                  <a:srgbClr val="0D1528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527048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SECTION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9966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System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858768"/>
            <a:ext cx="3840480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41648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4A3B8"/>
                </a:solidFill>
                <a:latin typeface="Calibri"/>
              </a:rPr>
              <a:t>Database schema  ·  REST API  ·  JWT lifecycle  ·  SQLite WAL  · 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36 / 70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429207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DB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Database Schema — Core Tables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389888"/>
            <a:ext cx="5486400" cy="3767328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00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664208"/>
            <a:ext cx="5486400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2376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1435608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schema.sql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719072"/>
            <a:ext cx="5248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users (
  id            TEXT PRIMARY KEY,  -- UUID
  email         TEXT UNIQUE NOT NULL,
  name          TEXT NOT NULL,
  role          TEXT DEFAULT 'user',
  password_hash TEXT NOT NULL,
  login_count   INTEGER DEFAULT 0,
  last_login    INTEGER,
  note          TEXT DEFAULT '',
  profile       TEXT DEFAULT '{}',  -- JSON
  memories      TEXT DEFAULT '[]',  -- JSON
  created_at    INTEGER NOT NULL
);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389888"/>
            <a:ext cx="5669280" cy="3767328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389888"/>
            <a:ext cx="5669280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1664208"/>
            <a:ext cx="5669280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90488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64224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43560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schema.sql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1719072"/>
            <a:ext cx="543153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conversations (
  id         TEXT PRIMARY KEY,
  user_id    TEXT NOT NULL
             REFERENCES users(id)
             ON DELETE CASCADE,
  title      TEXT DEFAULT 'New Chat',
  created_at INTEGER NOT NULL,
  updated_at INTEGER NOT NULL
);
CREATE TABLE messages (
  id              TEXT PRIMARY KEY,
  conversation_id TEXT NOT NULL
    REFERENCES conversations(id)
    ON DELETE CASCADE,
  role      TEXT NOT NULL,
  text      TEXT NOT NULL,
  timestamp INTEGER NOT NULL,
  refs      TEXT   -- JSON KB source refs
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5285232"/>
            <a:ext cx="11311128" cy="658368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5376672"/>
            <a:ext cx="11055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📌  Design Notes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669280"/>
            <a:ext cx="11055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All timestamps: Unix milliseconds (INTEGER).  UUIDs: crypto.randomUUID().  CASCADE deletes maintain referential integrity automatically.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37 / 70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429207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DB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Database Schema — Knowledge Base &amp;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389888"/>
            <a:ext cx="5486400" cy="3767328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00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664208"/>
            <a:ext cx="5486400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2376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1435608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schema.sql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719072"/>
            <a:ext cx="5248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kb_documents (
  id          TEXT PRIMARY KEY,
  name        TEXT NOT NULL,
  chunk_count INTEGER NOT NULL,
  added_at    INTEGER NOT NULL
);
CREATE TABLE kb_chunks (
  rowid     INTEGER PRIMARY KEY AUTOINCREMENT,
  doc_id    TEXT NOT NULL
            REFERENCES kb_documents(id)
            ON DELETE CASCADE,
  doc_name  TEXT NOT NULL,
  text      TEXT NOT NULL,
  embedding TEXT NOT NULL
  -- JSON array of BM25 tokens
  -- e.g. ['diabetes','management']
);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389888"/>
            <a:ext cx="5669280" cy="3767328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389888"/>
            <a:ext cx="5669280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1664208"/>
            <a:ext cx="5669280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90488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64224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43560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schema.sql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1719072"/>
            <a:ext cx="543153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settings (
  key   TEXT PRIMARY KEY,
  value TEXT NOT NULL   -- JSON blob
);
-- Single row "botSettings" (full example):
{
  "model":              "gemma-3-flash-preview",
  "systemPrompt":       "You are CIRA...",
  "style":              "balanced",
  "ragTopK":            5,
  "ragWeight":          80,
  "ownKnowledgeWeight": 60,
  "webSearchWeight":    40,
  "defaultTheme":       "dark",
  "ttsEnabled":         true,
  "defaultVoiceId":     "21m00Tcm....",
  "defaultTtsModel":    "eleven_turbo_v2_5",
  "ttsStability":       0.5,
  "ttsSimilarityBoost": 0.75
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5285232"/>
            <a:ext cx="11311128" cy="658368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5376672"/>
            <a:ext cx="11055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⚡  Live Settings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669280"/>
            <a:ext cx="11055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Admin changes take effect on the very next chat request — no server restart or redeploy required.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38 / 70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331366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REST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REST API Architecture — 25+ Endpoints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8912" y="1389888"/>
          <a:ext cx="448056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51560"/>
                <a:gridCol w="1051560"/>
                <a:gridCol w="0"/>
              </a:tblGrid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Auth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/api/auth/signup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Register user; returns JWT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/api/auth/login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Authenticate; returns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/api/auth/me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Verify token; return user object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/api/conversations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 / POST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List or create conversations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/api/conversations/:id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PATCH / DELETE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Rename or delete conversation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/api/conversations/:id/messages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Fetch message history for thread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/api/chat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Send message → AI response (core)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97763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/api/title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Auto-generate conversation title via Gemma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777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/api/health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Health check for Render.com monitoring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389888"/>
          <a:ext cx="429768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51560"/>
                <a:gridCol w="1051560"/>
                <a:gridCol w="0"/>
              </a:tblGrid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Auth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/api/user/profile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 / PUT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Read or update health profile fields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/api/user/memories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 / DELETE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List memories or delete by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/api/user/memories/extract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Trigger Gemma memory extraction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/api/fitness/auth-url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 Google Fit OAuth2 redirect URL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/api/fitness/callback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Handle OAuth2 code exchange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/api/fitness/refresh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Fetch fresh 7-day fitness data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/api/fitness/disconnect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Revoke Fit connection + clear tokens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/api/tts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Convert text to MP3 via ElevenLabs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/api/admin/users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Admin JWT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List all users with stats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/api/admin/settings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 / PUT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Admin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Read or update bot configuration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01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/api/documents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GET/POST/DELETE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Admin JWT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Manage knowledge base documents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38912" y="5266944"/>
            <a:ext cx="11311128" cy="749808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26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5358383"/>
            <a:ext cx="11055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9CF9"/>
                </a:solidFill>
                <a:latin typeface="Calibri"/>
              </a:rPr>
              <a:t>REST Design Principles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5650992"/>
            <a:ext cx="11055096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Resource-oriented URLs  ·  HTTP verbs for actions  ·  Consistent {"error":"msg"} error shape  ·  Stateless JWT auth  ·  JSON + MP3 content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39 / 70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JWT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JWT Authentication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389888"/>
            <a:ext cx="5486400" cy="5120640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00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664208"/>
            <a:ext cx="5486400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2376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1435608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JWT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719072"/>
            <a:ext cx="5248656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Header (base64url-encoded)
{ "alg": "HS256", "typ": "JWT" }
// Payload (base64url-encoded)
{
  "uid":   "user-uuid-here",
  "email": "user@example.com",
  "name":  "John Doe",
  "role":  "user",
  "iat":   1716890400,
  "exp":   1717495200   // +7 days
}
// Signature (HMAC-SHA256)
HMAC(
  base64(header) + "." + base64(payload),
  JWT_SECRET
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389888"/>
            <a:ext cx="5605272" cy="768096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389888"/>
            <a:ext cx="50292" cy="76809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453896"/>
            <a:ext cx="5385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🔐  Stateless Authentication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755648"/>
            <a:ext cx="5385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No session store needed. Server only needs JWT_SECRET to verify. Scales horizontally without shared session state.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2267712"/>
            <a:ext cx="5605272" cy="768096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2267712"/>
            <a:ext cx="50292" cy="76809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2331720"/>
            <a:ext cx="5385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👑  Role-Based Access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2633472"/>
            <a:ext cx="5385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role claim in payload gates admin routes. requireAdmin checks role==="admin" after requireAuth JWT verification.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3145536"/>
            <a:ext cx="5605272" cy="768096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3145536"/>
            <a:ext cx="50292" cy="768096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3209544"/>
            <a:ext cx="5385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💾  Client-Side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3511296"/>
            <a:ext cx="5385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Token stored in localStorage as "chatbot_token". AuthContext reads on app load. 7-day expiry for session continuity.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4023360"/>
            <a:ext cx="5605272" cy="768096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4023360"/>
            <a:ext cx="50292" cy="76809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4087368"/>
            <a:ext cx="5385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⏱️  Token Lifecycle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4389120"/>
            <a:ext cx="5385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Issued on login/signup → sent as Bearer token on every request → 7-day expiry → user must re-authenticate.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40 / 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SQLITE WAL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SQLite WAL Mode — Why and 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WAL = Write-Ahead Logging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Writes go to a separate .db-wal log file first, then checkpointed to the main .db file asynchronously.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Readers never block writers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Multiple SELECT queries can run concurrently with INSERT/UPDATE — no shared lock on the main file during writes.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Concurrent HTTP requests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Multiple users chatting simultaneously share the DB file safely. Handles ~50 concurrent users per instance without degradation.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Faster write throughput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Chat message inserts (2 rows per chat turn) complete in 1–2 ms. WAL avoids the exclusive lock of rollback-journal mode.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3 files created automatically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chatbot.db (main data) · chatbot.db-wal (pending writes) · chatbot.db-shm (shared memory index). All managed automatically.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Automatic crash recovery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Uncommitted WAL entries are rolled back automatically on the next open() after a crash — zero data corruption risk.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foreign_keys = ON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SQLite foreign key enforcement is opt-in and enabled at connection time. CASCADE deletes maintain referential integrity.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Zero operational overhead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Embedded in the Node.js process. No server to start, no port to configure, no version to manage.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4919472"/>
            <a:ext cx="5394960" cy="1645920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4919472"/>
            <a:ext cx="5394960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5193792"/>
            <a:ext cx="5394960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5010912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2376" y="5010912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2" y="5010912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96519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db.js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248656"/>
            <a:ext cx="515721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db.js — initialization
const db = new Database(dbPath);
db.pragma('journal_mode = WAL');
db.pragma('foreign_keys = ON');
// WAL creates 3 files:
//   chatbot.db         (main)
//   chatbot.db-wal     (write-ahead log)
//   chatbot.db-shm     (shared memory)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44768" y="1389888"/>
          <a:ext cx="5605272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8424"/>
                <a:gridCol w="1868424"/>
                <a:gridCol w="1868424"/>
              </a:tblGrid>
              <a:tr h="60742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D3E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D3EE"/>
                          </a:solidFill>
                          <a:latin typeface="Calibri"/>
                        </a:rPr>
                        <a:t>SQLite WAL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D3EE"/>
                          </a:solidFill>
                          <a:latin typeface="Calibri"/>
                        </a:rPr>
                        <a:t>PostgreSQL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Setup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Zero config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Server required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Concurrent R/W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✓  (WAL mode)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✓  (MVCC)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File size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~12 MB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Larger overhead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Monthly cost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$$$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Multi-host scale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Single node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Multi-host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60742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Right for CIRA?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Perfect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Overkill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41 / 70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016252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FRONTEND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Frontend Application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Page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1719072"/>
            <a:ext cx="5394960" cy="804672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50292" cy="804672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783080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🔑  / — LoginPage.jsx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084831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JWT-authenticated entry point. Redirects to /chat if logged in. Sign-up and login forms with client-side validation.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615184"/>
            <a:ext cx="5394960" cy="804672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615184"/>
            <a:ext cx="50292" cy="8046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679191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💬  /chat — ChatPage.jsx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980944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Main interface: sidebar with conversations, message thread, input bar with STT button. Markdown rendering via react-markdown.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3511296"/>
            <a:ext cx="5394960" cy="804672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3511296"/>
            <a:ext cx="50292" cy="80467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3575303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👤  /profile — ProfilePage.jsx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877056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Health profile form, AI memory manager, Google Fit connect button, 7-day fitness snapshot display.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4407408"/>
            <a:ext cx="5394960" cy="804672"/>
          </a:xfrm>
          <a:prstGeom prst="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" y="4407408"/>
            <a:ext cx="50292" cy="80467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" y="4471416"/>
            <a:ext cx="5175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🛡️  /admin/* — AdminLayout.jsx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4773168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Dashboard, Users, Chat History, KB Manager, Settings — tabbed admin interface with admin-only access guard.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State Management — Context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719072"/>
            <a:ext cx="5605272" cy="4892040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1993391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4496" y="1810512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28232" y="1810512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01968" y="1810512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0568" y="1764792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AuthContext.jsx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3" y="2048255"/>
            <a:ext cx="5367528" cy="4507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AuthContext.jsx — single global context
const AuthContext = createContext();
export function AuthProvider({ children }) {
  const [user, setUser] = useState(null);
  const [token, setToken] = useState(
    localStorage.getItem('chatbot_token')
  );
  // Auto-verify JWT on mount
  useEffect(() =&gt; {
    if (token) verifyToken(token)
      .then(setUser);
  }, []);
  return (
    &lt;AuthContext.Provider
      value={{ user, token, login, logout }}
    &gt;
      {children}
    &lt;/AuthContext.Provider&gt;
  );
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42 / 70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918411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BACKEND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Backend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8912" y="1389888"/>
          <a:ext cx="53949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429000"/>
              </a:tblGrid>
              <a:tr h="3860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File / Module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Responsibility &amp; Key Details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server.js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Main Express app — all 25+ route handlers, Gemma API integration, TTS, Fit. ~966 lines.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db.js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SQLite init: WAL mode, foreign_keys=ON, schema creation, all prepared statements.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auth.js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requireAuth middleware (jwt.verify) + requireAdmin role check for admin routes.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rag/embed.js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BM25 tokenizer: lowercase, 47-stopword filter, token-frequency map → JSON array.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rag/chunker.js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400-word / 60-word-overlap text splitter. Returns [{text, index}] array.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rag/store.js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BM25 search engine: IDF precompute, per-chunk scoring, Top-K sort, returns with source names.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start-instances.js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Reads instances.json, spawns isolated Node.js child processes with per-instance env vars.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instances.json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Config array: [{name, port, dataDir}] — one entry per chatbot instance deployed.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Request Middleware 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719072"/>
            <a:ext cx="5605272" cy="530352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44768" y="1719072"/>
            <a:ext cx="530352" cy="530352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19072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59" y="1755648"/>
            <a:ext cx="4946904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CORS  (allow FRONTEND_URL only)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9096" y="2249424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2505456"/>
            <a:ext cx="5605272" cy="530352"/>
          </a:xfrm>
          <a:prstGeom prst="roundRect">
            <a:avLst/>
          </a:prstGeom>
          <a:solidFill>
            <a:srgbClr val="102A2E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44768" y="2505456"/>
            <a:ext cx="530352" cy="53035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505456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2542032"/>
            <a:ext cx="4946904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express.json()  body 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9096" y="303580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291839"/>
            <a:ext cx="5605272" cy="530352"/>
          </a:xfrm>
          <a:prstGeom prst="roundRect">
            <a:avLst/>
          </a:prstGeom>
          <a:solidFill>
            <a:srgbClr val="2F2711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44768" y="3291839"/>
            <a:ext cx="530352" cy="530352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3291839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59" y="3328415"/>
            <a:ext cx="4946904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requireAuth  — JWT 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9096" y="3822191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4078224"/>
            <a:ext cx="5605272" cy="530352"/>
          </a:xfrm>
          <a:prstGeom prst="roundRect">
            <a:avLst/>
          </a:prstGeom>
          <a:solidFill>
            <a:srgbClr val="24182F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44768" y="4078224"/>
            <a:ext cx="530352" cy="530352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4078224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4114800"/>
            <a:ext cx="4946904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requireAdmin  — role check  (admin routes only)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9096" y="460857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4864608"/>
            <a:ext cx="5605272" cy="530352"/>
          </a:xfrm>
          <a:prstGeom prst="roundRect">
            <a:avLst/>
          </a:prstGeom>
          <a:solidFill>
            <a:srgbClr val="132A21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44768" y="4864608"/>
            <a:ext cx="530352" cy="530352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4768" y="486460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59" y="4901184"/>
            <a:ext cx="4946904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Route Handler → SQLite / Gemma / ElevenLabs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096" y="5394960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5650992"/>
            <a:ext cx="5605272" cy="530352"/>
          </a:xfrm>
          <a:prstGeom prst="roundRect">
            <a:avLst/>
          </a:prstGeom>
          <a:solidFill>
            <a:srgbClr val="17222F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44768" y="5650992"/>
            <a:ext cx="530352" cy="530352"/>
          </a:xfrm>
          <a:prstGeom prst="round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5650992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59" y="5687568"/>
            <a:ext cx="4946904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res.json()  response to client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43 / 70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Deployment System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389888"/>
            <a:ext cx="5486400" cy="3017520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00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664208"/>
            <a:ext cx="5486400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81328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2376" y="1481328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481328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1435608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render.yaml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719072"/>
            <a:ext cx="5248656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# render.yaml
services:
  - type: web
    name: cira-backend
    runtime: node
    buildCommand: "cd backend &amp;&amp; npm i"
    startCommand: "node server.js"
    disk:
      name: data
      mountPath: /app/data
      sizeGB: 1
    healthCheckPath: /api/health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4535424"/>
            <a:ext cx="5486400" cy="2176272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4535424"/>
            <a:ext cx="5486400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4809744"/>
            <a:ext cx="5486400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626864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" y="4626864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26864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" y="458114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netlify.toml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64608"/>
            <a:ext cx="5248656" cy="179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# netlify.toml
[build]
  base    = "frontend"
  command = "npm run build"
  publish = "build"
[[redirects]]
  from   = "/*"
  to     = "/index.html"
  status = 200   # SPA routing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389888"/>
            <a:ext cx="5605272" cy="914400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26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14813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9CF9"/>
                </a:solidFill>
                <a:latin typeface="Calibri"/>
              </a:rPr>
              <a:t>☁️  Netlify CDN (Frontend)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1773936"/>
            <a:ext cx="5349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React SPA served globally from edge nodes. Instant cache invalidation on push. Zero cold-start.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2395728"/>
            <a:ext cx="5605272" cy="914400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442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48716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55F7"/>
                </a:solidFill>
                <a:latin typeface="Calibri"/>
              </a:rPr>
              <a:t>⚙️  Render.com (Backend)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1928" y="2779776"/>
            <a:ext cx="5349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Node.js + 1 GB persistent disk for SQLite. Auto-deploy on GitHub push. Zero-downtime deploys.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401568"/>
            <a:ext cx="5605272" cy="914400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349300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🤖  External APIs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1928" y="3785616"/>
            <a:ext cx="5349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Google Gemma · ElevenLabs TTS · Google Fit — all HTTPS + API key auth. No vendor lock-in for AI model.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44768" y="4407408"/>
            <a:ext cx="5605272" cy="914400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5F4B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49884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BBF24"/>
                </a:solidFill>
                <a:latin typeface="Calibri"/>
              </a:rPr>
              <a:t>📈  Scaling 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1928" y="4791456"/>
            <a:ext cx="5349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SQLite WAL for small-medium. Clear migration to PostgreSQL + multiple instances for enterprise scale.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44 / 70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27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89920" y="0"/>
            <a:ext cx="1401775" cy="6858000"/>
          </a:xfrm>
          <a:prstGeom prst="rect">
            <a:avLst/>
          </a:prstGeom>
          <a:solidFill>
            <a:srgbClr val="2F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182880"/>
            <a:ext cx="4114800" cy="6492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500" b="1" i="0">
                <a:solidFill>
                  <a:srgbClr val="0D1528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527048" cy="256032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SECTION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9966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Architecture &amp; Advantages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858768"/>
            <a:ext cx="38404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41648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94A3B8"/>
                </a:solidFill>
                <a:latin typeface="Calibri"/>
              </a:rPr>
              <a:t>Design patterns  ·  Cost efficiency  ·  Security  ·  Scalability  ·  Why CIRA wins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45 / 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High-Level Architecture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" y="1389888"/>
            <a:ext cx="3712463" cy="4526280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389888"/>
            <a:ext cx="73152" cy="452628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34930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4F9CF9"/>
                </a:solidFill>
                <a:latin typeface="Calibri"/>
              </a:rPr>
              <a:t>Client 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3401568" cy="10972"/>
          </a:xfrm>
          <a:prstGeom prst="rect">
            <a:avLst/>
          </a:prstGeom>
          <a:solidFill>
            <a:srgbClr val="1F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75104"/>
            <a:ext cx="34930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📱 React 18 SPA
🔐 AuthContext (JWT)
💬 ChatPage
👤 ProfilePage
🛡 AdminLayout
🎤 Web Speech API
🌗 Dark/Light Theme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338328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E3E58"/>
                </a:solidFill>
                <a:latin typeface="Calibri"/>
              </a:rPr>
              <a:t>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89888"/>
            <a:ext cx="3712463" cy="4526280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89888"/>
            <a:ext cx="73152" cy="45262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481328"/>
            <a:ext cx="34930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A855F7"/>
                </a:solidFill>
                <a:latin typeface="Calibri"/>
              </a:rPr>
              <a:t>Server Tier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7992" y="1865376"/>
            <a:ext cx="3401568" cy="10972"/>
          </a:xfrm>
          <a:prstGeom prst="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75104"/>
            <a:ext cx="34930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⚙️ Express REST API
🔒 JWT Middleware
📋 25+ Routes
📊 SQLite WAL
🔍 BM25 RAG Engine
✂️ Text Chunker
🏗 Multi-Instance Spawn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338328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E3E58"/>
                </a:solidFill>
                <a:latin typeface="Calibri"/>
              </a:rPr>
              <a:t>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1389888"/>
            <a:ext cx="3712463" cy="4526280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1389888"/>
            <a:ext cx="73152" cy="45262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7344" y="1481328"/>
            <a:ext cx="34930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34D399"/>
                </a:solidFill>
                <a:latin typeface="Calibri"/>
              </a:rPr>
              <a:t>External APIs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7344" y="1865376"/>
            <a:ext cx="3401568" cy="10972"/>
          </a:xfrm>
          <a:prstGeom prst="rect">
            <a:avLst/>
          </a:prstGeom>
          <a:solidFill>
            <a:srgbClr val="194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7344" y="1975104"/>
            <a:ext cx="34930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🤖 Google Gemma
   (6 model variants)
🔊 ElevenLabs TTS
   (11 voices, 4 models)
🏃 Google Fit API
   (OAuth2, read-only)
📄 pdf-parse library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6035040"/>
            <a:ext cx="11311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E3E58"/>
                </a:solidFill>
                <a:latin typeface="Calibri"/>
              </a:rPr>
              <a:t>Client  ←→  HTTPS REST API  ←→  SQLite     |     Server  ←→  Gemma / ElevenLabs / Google 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46 / 70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016252" cy="256032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DESIGN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Architectural Design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623560" cy="1572768"/>
          </a:xfrm>
          <a:prstGeom prst="roundRect">
            <a:avLst/>
          </a:prstGeom>
          <a:solidFill>
            <a:srgbClr val="131B24"/>
          </a:solidFill>
          <a:ln w="635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1572768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9616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4F9CF9"/>
                </a:solidFill>
                <a:latin typeface="Calibri"/>
              </a:rPr>
              <a:t>🏛 Client-Server (3-Tier)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828800"/>
            <a:ext cx="52578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React (presentation) ↔ Express (business logic) ↔ SQLite (data). Clean separation enables independent deployment and scaling.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1389888"/>
            <a:ext cx="5623560" cy="1572768"/>
          </a:xfrm>
          <a:prstGeom prst="roundRect">
            <a:avLst/>
          </a:prstGeom>
          <a:solidFill>
            <a:srgbClr val="1C1424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64224" y="1389888"/>
            <a:ext cx="54864" cy="15727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499616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A855F7"/>
                </a:solidFill>
                <a:latin typeface="Calibri"/>
              </a:rPr>
              <a:t>🔗 REST Stateless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1828800"/>
            <a:ext cx="52578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All interactions via HTTP verbs on resource URIs. Stateless requests enabled by JWT, eliminating server-side session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090672"/>
            <a:ext cx="5623560" cy="1572768"/>
          </a:xfrm>
          <a:prstGeom prst="roundRect">
            <a:avLst/>
          </a:prstGeom>
          <a:solidFill>
            <a:srgbClr val="0F2123"/>
          </a:solidFill>
          <a:ln w="63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090672"/>
            <a:ext cx="54864" cy="157276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0040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2D3EE"/>
                </a:solidFill>
                <a:latin typeface="Calibri"/>
              </a:rPr>
              <a:t>🧩 RAG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29584"/>
            <a:ext cx="52578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Domain knowledge retrieved at query time and injected into LLM context. Eliminates hallucination risk for domain-specific questions.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3090672"/>
            <a:ext cx="5623560" cy="1572768"/>
          </a:xfrm>
          <a:prstGeom prst="roundRect">
            <a:avLst/>
          </a:prstGeom>
          <a:solidFill>
            <a:srgbClr val="11211B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64224" y="3090672"/>
            <a:ext cx="54864" cy="157276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20040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34D399"/>
                </a:solidFill>
                <a:latin typeface="Calibri"/>
              </a:rPr>
              <a:t>🔐 Middleware Chain (AOP)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529584"/>
            <a:ext cx="52578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Cross-cutting concerns (auth, CORS, body parsing) separated into Express middleware. Business logic stays clean.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4791456"/>
            <a:ext cx="5623560" cy="1572768"/>
          </a:xfrm>
          <a:prstGeom prst="roundRect">
            <a:avLst/>
          </a:prstGeom>
          <a:solidFill>
            <a:srgbClr val="251F0F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" y="4791456"/>
            <a:ext cx="54864" cy="15727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901184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BBF24"/>
                </a:solidFill>
                <a:latin typeface="Calibri"/>
              </a:rPr>
              <a:t>🏭 Multi-Tenant (Process Isolation)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5230368"/>
            <a:ext cx="52578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Separate OS processes per instance, each with isolated SQLite file. True data isolation without containers.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64224" y="4791456"/>
            <a:ext cx="5623560" cy="1572768"/>
          </a:xfrm>
          <a:prstGeom prst="roundRect">
            <a:avLst/>
          </a:prstGeom>
          <a:solidFill>
            <a:srgbClr val="241717"/>
          </a:solidFill>
          <a:ln w="63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64224" y="4791456"/>
            <a:ext cx="54864" cy="157276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901184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87171"/>
                </a:solidFill>
                <a:latin typeface="Calibri"/>
              </a:rPr>
              <a:t>🎯 Strategy Pattern (Knowledge)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230368"/>
            <a:ext cx="52578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RAG, own knowledge, and web search are independently togglable strategies with configurable weight percentages.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47 / 70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2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ADVANTAGE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Zero Vector Infrastructure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1481328"/>
          </a:xfrm>
          <a:prstGeom prst="roundRect">
            <a:avLst/>
          </a:prstGeom>
          <a:solidFill>
            <a:srgbClr val="12261F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2788920"/>
            <a:ext cx="3703320" cy="82296"/>
          </a:xfrm>
          <a:prstGeom prst="rect">
            <a:avLst/>
          </a:prstGeom>
          <a:solidFill>
            <a:srgbClr val="267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499616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34D399"/>
                </a:solidFill>
                <a:latin typeface="Calibri"/>
              </a:rP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993392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Embedding API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1389888"/>
            <a:ext cx="3703320" cy="1481328"/>
          </a:xfrm>
          <a:prstGeom prst="roundRect">
            <a:avLst/>
          </a:prstGeom>
          <a:solidFill>
            <a:srgbClr val="102629"/>
          </a:solidFill>
          <a:ln w="7620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1" y="2788920"/>
            <a:ext cx="3703320" cy="82296"/>
          </a:xfrm>
          <a:prstGeom prst="rect">
            <a:avLst/>
          </a:prstGeom>
          <a:solidFill>
            <a:srgbClr val="1D75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1" y="1499616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D3EE"/>
                </a:solidFill>
                <a:latin typeface="Calibri"/>
              </a:rPr>
              <a:t>&lt;5ms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1" y="1993392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BM25 Search Latency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389888"/>
            <a:ext cx="3703320" cy="1481328"/>
          </a:xfrm>
          <a:prstGeom prst="roundRect">
            <a:avLst/>
          </a:prstGeom>
          <a:solidFill>
            <a:srgbClr val="2B2310"/>
          </a:solidFill>
          <a:ln w="7620">
            <a:solidFill>
              <a:srgbClr val="5F4B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788920"/>
            <a:ext cx="3703320" cy="82296"/>
          </a:xfrm>
          <a:prstGeom prst="rect">
            <a:avLst/>
          </a:prstGeom>
          <a:solidFill>
            <a:srgbClr val="896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1499616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BBF24"/>
                </a:solidFill>
                <a:latin typeface="Calibri"/>
              </a:rPr>
              <a:t>12 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993392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Typical DB Size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3017520"/>
            <a:ext cx="5394960" cy="3273552"/>
          </a:xfrm>
          <a:prstGeom prst="roundRect">
            <a:avLst/>
          </a:prstGeom>
          <a:solidFill>
            <a:srgbClr val="241717"/>
          </a:solidFill>
          <a:ln w="762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3017520"/>
            <a:ext cx="54864" cy="32735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87171"/>
                </a:solidFill>
                <a:latin typeface="Calibri"/>
              </a:rPr>
              <a:t>❌  Traditional RAG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3456432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▸  OpenAI Embedding API: ~$0.13 / million tokens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▸  Pinecone / Weaviate: $70–250 / month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▸  Requires separate async embedding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▸  Slow cold-start and external API dependency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017520"/>
            <a:ext cx="5605272" cy="3273552"/>
          </a:xfrm>
          <a:prstGeom prst="roundRect">
            <a:avLst/>
          </a:prstGeom>
          <a:solidFill>
            <a:srgbClr val="11211B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3017520"/>
            <a:ext cx="54864" cy="32735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31089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✅  CIRA BM25 Advantage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456432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▸  Pure JavaScript — zero external API 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▸  SQLite storage: free, embedded, fully portable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▸  Instant synchronous indexing (&lt; 5 ms)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▸  Fully explainable results (keyword matching)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48 / 70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ADVANTAGE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Modular, Weighted Knowledge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1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Admins independently tune 3 knowledge source weights from 0–100%, composing custom strategies per deployment: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920240"/>
            <a:ext cx="3703320" cy="3218688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920240"/>
            <a:ext cx="54864" cy="3218688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29968"/>
            <a:ext cx="3493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2E8F0"/>
                </a:solidFill>
                <a:latin typeface="Calibri"/>
              </a:rPr>
              <a:t>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34930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F9CF9"/>
                </a:solidFill>
                <a:latin typeface="Calibri"/>
              </a:rPr>
              <a:t>KB Documents  (RAG)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9232"/>
            <a:ext cx="3337560" cy="10972"/>
          </a:xfrm>
          <a:prstGeom prst="rect">
            <a:avLst/>
          </a:prstGeom>
          <a:solidFill>
            <a:srgbClr val="1F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127248"/>
            <a:ext cx="34930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Upload domain docs (PDF/TXT/MD). Ground answers strictly in your content. Set to 100% for compliance-sensitive deployments.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1" y="1920240"/>
            <a:ext cx="3703320" cy="3218688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1" y="1920240"/>
            <a:ext cx="54864" cy="32186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029968"/>
            <a:ext cx="3493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2E8F0"/>
                </a:solidFill>
                <a:latin typeface="Calibri"/>
              </a:rPr>
              <a:t>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06040"/>
            <a:ext cx="34930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855F7"/>
                </a:solidFill>
                <a:latin typeface="Calibri"/>
              </a:rPr>
              <a:t>Gemma's Own Knowledge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999232"/>
            <a:ext cx="3337560" cy="10972"/>
          </a:xfrm>
          <a:prstGeom prst="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127248"/>
            <a:ext cx="34930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Leverage Gemma's training data for questions outside the KB. Set to 0% for strict KB-only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02752" y="1920240"/>
            <a:ext cx="3703320" cy="3218688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1920240"/>
            <a:ext cx="54864" cy="32186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2029968"/>
            <a:ext cx="3493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2E8F0"/>
                </a:solidFill>
                <a:latin typeface="Calibri"/>
              </a:rPr>
              <a:t>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06040"/>
            <a:ext cx="34930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2D3EE"/>
                </a:solidFill>
                <a:latin typeface="Calibri"/>
              </a:rPr>
              <a:t>Live Web Search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19" y="2999232"/>
            <a:ext cx="3337560" cy="10972"/>
          </a:xfrm>
          <a:prstGeom prst="rect">
            <a:avLst/>
          </a:prstGeom>
          <a:solidFill>
            <a:srgbClr val="144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3127248"/>
            <a:ext cx="34930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Real-time Google Search via Gemma tool use. Always-current answers. Disable for air-gapped environments.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" y="5266944"/>
            <a:ext cx="11311128" cy="713232"/>
          </a:xfrm>
          <a:prstGeom prst="roundRect">
            <a:avLst/>
          </a:prstGeom>
          <a:solidFill>
            <a:srgbClr val="131B24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4406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Presets:  Strict (KB=100, Own=0, Web=0)   ·   Balanced (KB=80, Own=60, Web=40)   ·   General (KB=0, Own=100, Web=100)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49 / 70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ADVANTAGE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Smart Personalization Without Manual Prompting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CIRA's personalization stack works entirely automatically — users never need to re-explain themselves: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938528"/>
            <a:ext cx="566928" cy="566928"/>
          </a:xfrm>
          <a:prstGeom prst="roundRect">
            <a:avLst/>
          </a:prstGeom>
          <a:solidFill>
            <a:srgbClr val="194032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938528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938528"/>
            <a:ext cx="4736592" cy="566928"/>
          </a:xfrm>
          <a:prstGeom prst="roundRect">
            <a:avLst/>
          </a:prstGeom>
          <a:solidFill>
            <a:srgbClr val="11211B"/>
          </a:solidFill>
          <a:ln w="508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984248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User fills profile 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267712"/>
            <a:ext cx="4480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Health data stored permanently and auto-injected into every conversation context.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3108960"/>
            <a:ext cx="566928" cy="566928"/>
          </a:xfrm>
          <a:prstGeom prst="roundRect">
            <a:avLst/>
          </a:prstGeom>
          <a:solidFill>
            <a:srgbClr val="144047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310896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108960"/>
            <a:ext cx="4736592" cy="566928"/>
          </a:xfrm>
          <a:prstGeom prst="roundRect">
            <a:avLst/>
          </a:prstGeom>
          <a:solidFill>
            <a:srgbClr val="0F2123"/>
          </a:solidFill>
          <a:ln w="508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315468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AI extracts facts automatically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438144"/>
            <a:ext cx="4480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Memories extracted from chat history via Gemma — system learns preferences without forms.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" y="4279392"/>
            <a:ext cx="566928" cy="566928"/>
          </a:xfrm>
          <a:prstGeom prst="roundRect">
            <a:avLst/>
          </a:prstGeom>
          <a:solidFill>
            <a:srgbClr val="1F334A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4279392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F9CF9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279392"/>
            <a:ext cx="4736592" cy="566928"/>
          </a:xfrm>
          <a:prstGeom prst="roundRect">
            <a:avLst/>
          </a:prstGeom>
          <a:solidFill>
            <a:srgbClr val="131B24"/>
          </a:solidFill>
          <a:ln w="508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5296" y="432511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Fitness data syncs on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4608576"/>
            <a:ext cx="4480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One OAuth2 connection to Google Fit. Steps, HR, weight always available in context.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5449824"/>
            <a:ext cx="566928" cy="566928"/>
          </a:xfrm>
          <a:prstGeom prst="roundRect">
            <a:avLst/>
          </a:prstGeom>
          <a:solidFill>
            <a:srgbClr val="4A3B15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5449824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BBF24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5449824"/>
            <a:ext cx="4736592" cy="566928"/>
          </a:xfrm>
          <a:prstGeom prst="roundRect">
            <a:avLst/>
          </a:prstGeom>
          <a:solidFill>
            <a:srgbClr val="251F0F"/>
          </a:solidFill>
          <a:ln w="508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5296" y="549554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All assembled per-request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5779008"/>
            <a:ext cx="4480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Profile + memories + fitness + KB + history = rich systemInstruction in &lt; 20 ms.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144768" y="1389888"/>
          <a:ext cx="5605272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673352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CIRA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Generic Chatbots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User profile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Stored &amp; injected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Learned memories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Auto-extracted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Fitness data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Live via OAuth2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Conversation history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Persistent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Session only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Tone / style control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Admin config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50 / 70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ADVANTAGE 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Cost Efficiency — Run for Under $20/Month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8912" y="1389888"/>
          <a:ext cx="539496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71600"/>
                <a:gridCol w="182880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BBF24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5F4B1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BBF24"/>
                          </a:solidFill>
                          <a:latin typeface="Calibri"/>
                        </a:rPr>
                        <a:t>CIRA Cost</a:t>
                      </a:r>
                    </a:p>
                  </a:txBody>
                  <a:tcPr>
                    <a:solidFill>
                      <a:srgbClr val="5F4B1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BBF24"/>
                          </a:solidFill>
                          <a:latin typeface="Calibri"/>
                        </a:rPr>
                        <a:t>Typical Alternative</a:t>
                      </a:r>
                    </a:p>
                  </a:txBody>
                  <a:tcPr>
                    <a:solidFill>
                      <a:srgbClr val="5F4B1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Hosting (Render)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$7 / month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$20–50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CDN (Netlify)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  (free tier)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$15–20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Vector Database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  (SQLite)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$70–250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Embedding API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  (BM25)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$5–50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AI API (Gemma)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Pay-per-use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Pay-per-use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TTS (ElevenLabs)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$5 starter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$5+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fixed infra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~$12 / month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$110–370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2D3EE"/>
                </a:solidFill>
                <a:latin typeface="Calibri"/>
              </a:rPr>
              <a:t>Cost-Saving Architecture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44768" y="1719072"/>
            <a:ext cx="5605272" cy="3401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BM25 over vectors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Saves $70–250/month in vector DB costs alone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SQLite over PostgreSQL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Zero database hosting cost and zero maintenance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Context API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No state management library overhead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Web Speech API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Zero STT API cost — native browser capability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Gemma Flash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10–50× cheaper per token than GPT-4 equivalent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Multi-instance on one server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One Render instance serves N chatbots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51 / 70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ADVANTAGE #5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Scalability &amp;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623560" cy="2340864"/>
          </a:xfrm>
          <a:prstGeom prst="roundRect">
            <a:avLst/>
          </a:prstGeom>
          <a:solidFill>
            <a:srgbClr val="131B24"/>
          </a:solidFill>
          <a:ln w="635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340864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9616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4F9CF9"/>
                </a:solidFill>
                <a:latin typeface="Calibri"/>
              </a:rPr>
              <a:t>⚡ Stateless REST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847088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JWT auth eliminates server-side session state. Any number of Node.js processes can serve the same JWT — horizontal scaling with no shared session store.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1389888"/>
            <a:ext cx="5623560" cy="2340864"/>
          </a:xfrm>
          <a:prstGeom prst="roundRect">
            <a:avLst/>
          </a:prstGeom>
          <a:solidFill>
            <a:srgbClr val="1C1424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64224" y="1389888"/>
            <a:ext cx="54864" cy="2340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499616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A855F7"/>
                </a:solidFill>
                <a:latin typeface="Calibri"/>
              </a:rPr>
              <a:t>🔀 Multi-Instance Process Isolation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1847088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Each chatbot instance runs as an isolated OS process with its own SQLite file. Instance A crashing does not affect Instance 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877056"/>
            <a:ext cx="5623560" cy="2340864"/>
          </a:xfrm>
          <a:prstGeom prst="roundRect">
            <a:avLst/>
          </a:prstGeom>
          <a:solidFill>
            <a:srgbClr val="0F2123"/>
          </a:solidFill>
          <a:ln w="63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877056"/>
            <a:ext cx="54864" cy="2340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986784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2D3EE"/>
                </a:solidFill>
                <a:latin typeface="Calibri"/>
              </a:rPr>
              <a:t>📦 SQLite WAL Concurrent I/O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334256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WAL mode handles concurrent HTTP requests without blocking. Multiple users chatting simultaneously share the DB safely — ~50 concurrent users per instance.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3877056"/>
            <a:ext cx="5623560" cy="2340864"/>
          </a:xfrm>
          <a:prstGeom prst="roundRect">
            <a:avLst/>
          </a:prstGeom>
          <a:solidFill>
            <a:srgbClr val="11211B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64224" y="3877056"/>
            <a:ext cx="54864" cy="2340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986784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34D399"/>
                </a:solidFill>
                <a:latin typeface="Calibri"/>
              </a:rPr>
              <a:t>🌐 CDN-Served 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334256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React SPA is a static build served from Netlify's global edge network. Frontend scales infinitely regardless of backend load.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52 / 70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ADVANTAGE #6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Security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2331720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3317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Password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bcryptjs with 10 salt rounds. Never stored in plaintext. Computationally expensive to brute-force.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389888"/>
            <a:ext cx="3703320" cy="2331720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1" y="1389888"/>
            <a:ext cx="54864" cy="2331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JWT Signed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HMAC-SHA256 signed. Tamper-evident. 7-day expiry. Role claims verified server-side on every request.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389888"/>
            <a:ext cx="3703320" cy="2331720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389888"/>
            <a:ext cx="54864" cy="23317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991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CORS Protection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Only FRONTEND_URL allowed as CORS origin. Blocks unauthorized cross-origin API calls.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877056"/>
            <a:ext cx="3703320" cy="2331720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877056"/>
            <a:ext cx="54864" cy="2331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OAuth2 Read-Only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Google Fit requests only read scopes. Tokens stored server-side. Never exposed to frontend.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1" y="3877056"/>
            <a:ext cx="3703320" cy="2331720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1" y="3877056"/>
            <a:ext cx="54864" cy="2331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799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🛡️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799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Role-Based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Admin routes double-protected: requireAuth (JWT valid) + requireAdmin (role="admin"). Layered defence.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02752" y="3877056"/>
            <a:ext cx="3703320" cy="2331720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2752" y="3877056"/>
            <a:ext cx="54864" cy="2331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991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Safe Markdown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991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react-markdown sanitizes HTML in AI responses by default. No XSS injection through AI-generated content.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53 / 70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ADVANTAGE #7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Developer Experience &amp; Extensibility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5193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Zero build config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CRA frontend, plain Node.js backend. No Webpack config, no TypeScript migration needed.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No ORM needed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Raw better-sqlite3 with synchronous API — easy to reason about, debug, and extend.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Model switching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Change Gemma model in admin settings UI — zero code change required.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Behavior without redeploy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System prompt, temperature, KB weights, TTS defaults — all in database settings.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Self-contained install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Single npm install in /frontend and /backend — no monorepo tooling.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Instances in JSON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Add a new chatbot instance by adding one JSON object to instances.json.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▸  </a:t>
            </a:r>
            <a:r>
              <a:rPr sz="1200" b="1">
                <a:solidFill>
                  <a:srgbClr val="FFFFFF"/>
                </a:solidFill>
                <a:latin typeface="Calibri"/>
              </a:rPr>
              <a:t>CSS design tokens</a:t>
            </a:r>
          </a:p>
          <a:p>
            <a:pPr>
              <a:spcBef>
                <a:spcPts val="100"/>
              </a:spcBef>
            </a:pPr>
            <a:r>
              <a:rPr sz="1050">
                <a:solidFill>
                  <a:srgbClr val="94A3B8"/>
                </a:solidFill>
                <a:latin typeface="Calibri"/>
              </a:rPr>
              <a:t>      Theme customisation via CSS custom properties — no Tailwind config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Start in 4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1719072"/>
            <a:ext cx="5605272" cy="4864608"/>
          </a:xfrm>
          <a:prstGeom prst="rect">
            <a:avLst/>
          </a:prstGeom>
          <a:solidFill>
            <a:srgbClr val="0D1117"/>
          </a:solidFill>
          <a:ln w="7620">
            <a:solidFill>
              <a:srgbClr val="21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44768" y="1719072"/>
            <a:ext cx="5605272" cy="274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44768" y="1993391"/>
            <a:ext cx="5605272" cy="10972"/>
          </a:xfrm>
          <a:prstGeom prst="rect">
            <a:avLst/>
          </a:prstGeom>
          <a:solidFill>
            <a:srgbClr val="21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1810512"/>
            <a:ext cx="100584" cy="100584"/>
          </a:xfrm>
          <a:prstGeom prst="round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28232" y="1810512"/>
            <a:ext cx="100584" cy="100584"/>
          </a:xfrm>
          <a:prstGeom prst="round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01968" y="1810512"/>
            <a:ext cx="100584" cy="100584"/>
          </a:xfrm>
          <a:prstGeom prst="round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764792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6E8A"/>
                </a:solidFill>
                <a:latin typeface="Calibri"/>
              </a:rPr>
              <a:t>Terminal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3" y="2048255"/>
            <a:ext cx="5367528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# 1. Clone and install
git clone https://github.com/.../cira
cd backend   &amp;&amp; npm install
cd ../frontend &amp;&amp; npm install
# 2. Configure environment
cp backend/.env.example backend/.env
# → Set GEMINI_API_KEY, JWT_SECRET
# 3. Start all instances
node start-instances.js
# 4. Start frontend
cd frontend &amp;&amp; npm start
# Ready at http://localhost:3000 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54 / 70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ADVANTAGE #8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Admin-First: Zero-Code Bot Configuration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1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Every aspect of CIRA behaviour can be changed by a non-technical admin without touching any code: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938528"/>
            <a:ext cx="3703320" cy="2084831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938528"/>
            <a:ext cx="54864" cy="2084831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202996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46888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Switch AI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779776"/>
            <a:ext cx="3456432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Dropdown: Gemma Flash → Pro → Gemma. Takes effect on the next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938528"/>
            <a:ext cx="3703320" cy="2084831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938528"/>
            <a:ext cx="54864" cy="2084831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202996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46888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Edit System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779776"/>
            <a:ext cx="3456432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Change bot persona, topic scope, tone, language via a text area in admin settings.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1938528"/>
            <a:ext cx="3703320" cy="2084831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02752" y="1938528"/>
            <a:ext cx="54864" cy="2084831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202996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46888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Response Style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2" y="2779776"/>
            <a:ext cx="3456432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Toggle: Precise (0.2) / Balanced (0.7) / Creative (1.2) temperature presets.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4178808"/>
            <a:ext cx="3703320" cy="2084831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" y="4178808"/>
            <a:ext cx="54864" cy="2084831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42702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470916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Update Knowledge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" y="5020056"/>
            <a:ext cx="3456432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Upload new PDFs or delete outdated docs. Available instantly after upload.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1" y="4178808"/>
            <a:ext cx="3703320" cy="2084831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0831" y="4178808"/>
            <a:ext cx="54864" cy="2084831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42702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470916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Configure TTS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5020056"/>
            <a:ext cx="3456432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Set default voice, model, stability, similarity boost for all users.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2752" y="4178808"/>
            <a:ext cx="3703320" cy="2084831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02752" y="4178808"/>
            <a:ext cx="54864" cy="2084831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9912" y="42702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⚖️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9912" y="470916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Knowledge Weights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9912" y="5020056"/>
            <a:ext cx="3456432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Sliders for RAG, own knowledge, and web search weights (0–100 each).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55 / 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211933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MODEL FLEXIBILITY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Multi-Model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1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CIRA supports all major Gemma generations, enabling cost-performance trade-offs optimised per deployment: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8912" y="1874519"/>
          <a:ext cx="11311128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051560"/>
                <a:gridCol w="1143000"/>
                <a:gridCol w="1188720"/>
                <a:gridCol w="4453128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D3EE"/>
                          </a:solidFill>
                          <a:latin typeface="Calibri"/>
                        </a:rPr>
                        <a:t>Model ID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D3EE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D3EE"/>
                          </a:solidFill>
                          <a:latin typeface="Calibri"/>
                        </a:rPr>
                        <a:t>Quality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D3EE"/>
                          </a:solidFill>
                          <a:latin typeface="Calibri"/>
                        </a:rPr>
                        <a:t>Cost / 1M tok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D3EE"/>
                          </a:solidFill>
                          <a:latin typeface="Calibri"/>
                        </a:rPr>
                        <a:t>Web Search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D3EE"/>
                          </a:solidFill>
                          <a:latin typeface="Calibri"/>
                        </a:rPr>
                        <a:t>Ideal Deployment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gemma-3-flash-preview  ⭐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Fastest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~$0.075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Built-in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Default — best balance of speed and quality for all use cases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gemma-2.5-pro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Best in class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~$1.25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Built-in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Deep reasoning, complex multi-step medical or legal Q&amp;A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gemma-2.5-flash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Very Good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~$0.15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Built-in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High-volume production deployments needing speed + quality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gemma-2.0-flash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~$0.10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Built-in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Budget-optimised or legacy compatibility use cases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gemma-4 (open-weight)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(self-host)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  Not supported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Air-gapped, privacy-first, or offline-capable deployments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38912" y="5449824"/>
            <a:ext cx="11311128" cy="713232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5541264"/>
            <a:ext cx="11055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Admin Model Switching &amp; Fallback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5833872"/>
            <a:ext cx="11055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Admin switches model via a settings dropdown with zero code changes. Selecting Gemma 4 (open-weight) automatically hides the web-search slider in the UI and silently disables grounding at runtime. Memory extraction uses a hardcoded Gemma Flash fallback in JSON mode for parse-failure robustness.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56 / 70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114092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DESIGN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Progressive Enhancement — Graceful Degradation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11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Every optional feature degrades gracefully — the core chat experience is never broken by unavailable optional services: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8912" y="1874519"/>
          <a:ext cx="1131112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750808"/>
              </a:tblGrid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A855F7"/>
                          </a:solidFill>
                          <a:latin typeface="Calibri"/>
                        </a:rPr>
                        <a:t>If Unavailable — Fallback Behaviour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ElevenLabs TTS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TTS button hidden; text response still displayed normally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Web Speech (STT)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Mic button hidden; keyboard input works normally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Google Fit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Fitness section skipped; profile data still injected into context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KB Documents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RAG weight ignored; own knowledge and web search used instead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Web Search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Silently disabled on Gemma; KB + own knowledge used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0495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User Profile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System prompt only; no personalization context injected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38912" y="4828032"/>
            <a:ext cx="5394960" cy="987552"/>
          </a:xfrm>
          <a:prstGeom prst="roundRect">
            <a:avLst/>
          </a:prstGeom>
          <a:solidFill>
            <a:srgbClr val="11211B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4828032"/>
            <a:ext cx="54864" cy="9875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49194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✅  Core Experience Guarantee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24865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As long as GEMINI_API_KEY and JWT_SECRET are set, the basic text chat experience always works.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4828032"/>
            <a:ext cx="5669280" cy="987552"/>
          </a:xfrm>
          <a:prstGeom prst="roundRect">
            <a:avLst/>
          </a:prstGeom>
          <a:solidFill>
            <a:srgbClr val="131B24"/>
          </a:solidFill>
          <a:ln w="635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4828032"/>
            <a:ext cx="54864" cy="987552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49194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🚀  Minimum Viable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24865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Set GEMINI_API_KEY + JWT_SECRET → get a fully functional, authenticated, multi-conversation chatbot immediately.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57 / 70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CIRA vs. Alternatives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8912" y="1389888"/>
          <a:ext cx="11311128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03120"/>
                <a:gridCol w="1828800"/>
                <a:gridCol w="1828800"/>
                <a:gridCol w="2990088"/>
              </a:tblGrid>
              <a:tr h="52324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CIRA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ChatGPT API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LangChain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F9CF9"/>
                          </a:solidFill>
                          <a:latin typeface="Calibri"/>
                        </a:rPr>
                        <a:t>Botpress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Full control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  Cloud only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Vector DB needed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  BM25 only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User personalization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Deep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Manual only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Custom build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Google Fit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Built-in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Custom build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Admin dashboard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Full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AI memory extraction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 Auto (Gemma)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Manual API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Custom build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Monthly cost (infra)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~$12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$100+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$50–200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$200+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Setup complexity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Low (2 installs)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58 / 70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624888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Performance Characteristics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8912" y="1389888"/>
          <a:ext cx="11311128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143000"/>
                <a:gridCol w="1143000"/>
                <a:gridCol w="6007608"/>
              </a:tblGrid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P50 Latency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P99 Latency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4D399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JWT verify (requireAuth)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0.5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1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Pure CPU — HMAC-SHA256 hash. No DB query.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SQLite read: user profile + memories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3–8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12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WAL mode — single indexed SELECT by UUID.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SQLite read: last 10 messages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5–10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18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~10 row read; indexed by conversation_id.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BM25 search (1,000 chunks)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2–4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8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Pure in-process JS — no I/O, no network call.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System prompt assembly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1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1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String concatenation + JSON serialization.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Gemma API call  ⚠ bottleneck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1.2 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4.8 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External HTTPS. Flash ~1.2 s, Pro ~3–5 s avg.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SQLite message insert (2 rows)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1–2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4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WAL mode — synchronous write, immediate ACK.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ElevenLabs TTS (200 words)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350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800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Turbo v2.5 model. Longer text → proportionally slower.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local pipeline (excl. Gemma)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12–22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38 ms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Steps 2–8 in the 12-step chat flow.</a:t>
                      </a:r>
                    </a:p>
                  </a:txBody>
                  <a:tcPr>
                    <a:solidFill>
                      <a:srgbClr val="101C32"/>
                    </a:solidFill>
                  </a:tcPr>
                </a:tc>
              </a:tr>
              <a:tr h="4447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End-to-end chat (Flash model)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1.2–2 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5.5 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Dominated by Gemma API network round-trip.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8912" y="6080760"/>
            <a:ext cx="11311128" cy="566928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6172200"/>
            <a:ext cx="11055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⚡  Optimisation 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6464808"/>
            <a:ext cx="110550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99% of end-to-end latency is the Gemma API call. Gemma Flash is 3–5× faster than Pro models. All local ops complete in under 25 ms total.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59 / 70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722729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CASE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Real-World Deployment Configurations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5047488"/>
          </a:xfrm>
          <a:prstGeom prst="roundRect">
            <a:avLst/>
          </a:prstGeom>
          <a:solidFill>
            <a:srgbClr val="131B24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5047488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81328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4F9CF9"/>
                </a:solidFill>
                <a:latin typeface="Calibri"/>
              </a:rPr>
              <a:t>🏥 Wellness Clinic Assistant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83664"/>
            <a:ext cx="3383280" cy="10972"/>
          </a:xfrm>
          <a:prstGeom prst="rect">
            <a:avLst/>
          </a:prstGeom>
          <a:solidFill>
            <a:srgbClr val="1F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349300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· Model: Gemma 3 Flash
· KB: Clinical guidelines PDFs
· KB weight: 100% (strict)
· Web search: disabled
· Profile: full health fields
· Fitness: Google Fit enabled
· TTS: Rachel voice, Turbo v2.5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389888"/>
            <a:ext cx="3703320" cy="5047488"/>
          </a:xfrm>
          <a:prstGeom prst="roundRect">
            <a:avLst/>
          </a:prstGeom>
          <a:solidFill>
            <a:srgbClr val="1C1424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1" y="1389888"/>
            <a:ext cx="54864" cy="50474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81328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A855F7"/>
                </a:solidFill>
                <a:latin typeface="Calibri"/>
              </a:rPr>
              <a:t>🏢 HR Policy Bot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883664"/>
            <a:ext cx="3383280" cy="10972"/>
          </a:xfrm>
          <a:prstGeom prst="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011680"/>
            <a:ext cx="349300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· Model: Gemma 2.5 Flash
· KB: Employee handbook, policies
· KB weight: 90%
· Own knowledge: 40%
· Web search: disabled
· Profile: name, department only
· TTS: disabled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389888"/>
            <a:ext cx="3703320" cy="5047488"/>
          </a:xfrm>
          <a:prstGeom prst="roundRect">
            <a:avLst/>
          </a:prstGeom>
          <a:solidFill>
            <a:srgbClr val="0F2123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389888"/>
            <a:ext cx="54864" cy="50474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481328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2D3EE"/>
                </a:solidFill>
                <a:latin typeface="Calibri"/>
              </a:rPr>
              <a:t>🎓 Student Tutor Bot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1883664"/>
            <a:ext cx="3383280" cy="10972"/>
          </a:xfrm>
          <a:prstGeom prst="rect">
            <a:avLst/>
          </a:prstGeom>
          <a:solidFill>
            <a:srgbClr val="144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011680"/>
            <a:ext cx="349300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· Model: Gemma Flash Preview
· KB: Course PDFs, textbooks
· KB weight: 70%
· Own knowledge: 80%
· Web search: 60%
· Temperature: Creative (1.2)
· TTS: Adam voice enabled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60 / 70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527048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Honest Trade-Off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394960" cy="5102352"/>
          </a:xfrm>
          <a:prstGeom prst="roundRect">
            <a:avLst/>
          </a:prstGeom>
          <a:solidFill>
            <a:srgbClr val="101F19"/>
          </a:solidFill>
          <a:ln w="635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51023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81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34D399"/>
                </a:solidFill>
                <a:latin typeface="Calibri"/>
              </a:rPr>
              <a:t>✅  Where CIRA Excels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850">
                <a:solidFill>
                  <a:srgbClr val="34D399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~$12/month total fixed infra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SQLite + BM25 eliminates $70–250/month in vector DB and embedding API costs alone.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34D399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Deep personalization built-in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Health profile + auto-extracted AI memories + live Google Fit data — all injected into every chat request automatically.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34D399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Fast local pipeline: &lt; 25 ms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JWT verify + DB reads + BM25 search + prompt assembly all complete in under 25 ms before the Gemma API call.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34D399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Zero-code admin configuration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Model, temperature, system prompt, KB weights, TTS settings — all changeable from the admin UI with immediate effect.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34D399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True multi-instance isolation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Separate OS processes, separate SQLite files, separate ports — Instance A crash cannot affect Instance B.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34D399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Progressive enhancement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Core chat survives ElevenLabs outages, browser STT gaps, missing Google Fit — always shows text response.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34D399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Fitness-aware AI (unique)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Injecting real-time wearable data (steps, HR, weight) into AI context is a unique capability in open-source chatbots.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34D399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Model-agnostic architecture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Swap from Gemma Flash to Pro or Gemma 4 with one dropdown — same API contract, no code changes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389888"/>
            <a:ext cx="5605272" cy="5102352"/>
          </a:xfrm>
          <a:prstGeom prst="roundRect">
            <a:avLst/>
          </a:prstGeom>
          <a:solidFill>
            <a:srgbClr val="221D0F"/>
          </a:solidFill>
          <a:ln w="635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4768" y="1389888"/>
            <a:ext cx="54864" cy="51023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7648" y="148132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BBF24"/>
                </a:solidFill>
                <a:latin typeface="Calibri"/>
              </a:rPr>
              <a:t>⚠️  Known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850">
                <a:solidFill>
                  <a:srgbClr val="FBBF24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BM25 keyword gap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No synonym or semantic matching. "heart attack" won't retrieve a chunk containing "myocardial infarction".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FBBF24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SQLite concurrency ceiling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WAL mode handles ~50 concurrent users per instance. &gt; 1,000 concurrent users needs PostgreSQL migration.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FBBF24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No response streaming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Full AI text returned at once — users see a loading indicator until the entire Gemma response is complete.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FBBF24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Gemma API dependency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Single point of failure for AI responses. Gemma API outages make the chatbot unable to respond.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FBBF24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Single-node SQLite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SQLite is file-based — cannot be shared across multiple hosts. Horizontal scaling requires DB migration.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FBBF24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No rate limiting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No per-user request throttling. A runaway client can exhaust Gemma API quota or overload SQLite.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FBBF24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Memory extraction cap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Memory extraction reads last 150 messages only — very old conversation context is not analysed.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FBBF24"/>
                </a:solidFill>
                <a:latin typeface="Calibri"/>
              </a:rPr>
              <a:t>▸  </a:t>
            </a:r>
            <a:r>
              <a:rPr sz="950" b="1">
                <a:solidFill>
                  <a:srgbClr val="FFFFFF"/>
                </a:solidFill>
                <a:latin typeface="Calibri"/>
              </a:rPr>
              <a:t>No refresh token rotation</a:t>
            </a:r>
          </a:p>
          <a:p>
            <a:pPr>
              <a:spcBef>
                <a:spcPts val="100"/>
              </a:spcBef>
            </a:pPr>
            <a:r>
              <a:rPr sz="800">
                <a:solidFill>
                  <a:srgbClr val="94A3B8"/>
                </a:solidFill>
                <a:latin typeface="Calibri"/>
              </a:rPr>
              <a:t>      JWT is 7-day non-rotatable. Stolen tokens remain valid until expiry with no revocation mechanism.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61 / 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280160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Near Term  (v2.0)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719072"/>
            <a:ext cx="566928" cy="566928"/>
          </a:xfrm>
          <a:prstGeom prst="roundRect">
            <a:avLst/>
          </a:prstGeom>
          <a:solidFill>
            <a:srgbClr val="1F334A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719072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F9CF9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719072"/>
            <a:ext cx="4736592" cy="566928"/>
          </a:xfrm>
          <a:prstGeom prst="roundRect">
            <a:avLst/>
          </a:prstGeom>
          <a:solidFill>
            <a:srgbClr val="131B24"/>
          </a:solidFill>
          <a:ln w="508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76479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Streaming Responses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048256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Server-Sent Events (SSE) for real-time token streaming — eliminates perceived latency for long responses.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3035808"/>
            <a:ext cx="566928" cy="566928"/>
          </a:xfrm>
          <a:prstGeom prst="roundRect">
            <a:avLst/>
          </a:prstGeom>
          <a:solidFill>
            <a:srgbClr val="362149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3035808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A855F7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035808"/>
            <a:ext cx="4736592" cy="566928"/>
          </a:xfrm>
          <a:prstGeom prst="roundRect">
            <a:avLst/>
          </a:prstGeom>
          <a:solidFill>
            <a:srgbClr val="1C1424"/>
          </a:solidFill>
          <a:ln w="508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3081528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Hybrid BM25 + Semantic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364992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Add optional vector embeddings as opt-in alongside BM25 for queries requiring semantic understanding.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" y="4352544"/>
            <a:ext cx="566928" cy="566928"/>
          </a:xfrm>
          <a:prstGeom prst="roundRect">
            <a:avLst/>
          </a:prstGeom>
          <a:solidFill>
            <a:srgbClr val="144047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4352544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352544"/>
            <a:ext cx="4736592" cy="566928"/>
          </a:xfrm>
          <a:prstGeom prst="roundRect">
            <a:avLst/>
          </a:prstGeom>
          <a:solidFill>
            <a:srgbClr val="0F2123"/>
          </a:solidFill>
          <a:ln w="508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5296" y="439826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Rate Limiting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4681728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express-rate-limit middleware to prevent API abuse. Configurable per-user request limits in admin panel.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Long Term  (v3.0)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719072"/>
            <a:ext cx="566928" cy="566928"/>
          </a:xfrm>
          <a:prstGeom prst="roundRect">
            <a:avLst/>
          </a:prstGeom>
          <a:solidFill>
            <a:srgbClr val="362149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1719072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A855F7"/>
                </a:solidFill>
                <a:latin typeface="Calibri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03136" y="1719072"/>
            <a:ext cx="4946904" cy="566928"/>
          </a:xfrm>
          <a:prstGeom prst="roundRect">
            <a:avLst/>
          </a:prstGeom>
          <a:solidFill>
            <a:srgbClr val="1C1424"/>
          </a:solidFill>
          <a:ln w="508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17647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PostgreSQL Migration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2048256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Abstract DB layer to support both SQLite and PostgreSQL for horizontal enterprise scaling.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035808"/>
            <a:ext cx="566928" cy="566928"/>
          </a:xfrm>
          <a:prstGeom prst="roundRect">
            <a:avLst/>
          </a:prstGeom>
          <a:solidFill>
            <a:srgbClr val="194032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3035808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4D399"/>
                </a:solidFill>
                <a:latin typeface="Calibri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03136" y="3035808"/>
            <a:ext cx="4946904" cy="566928"/>
          </a:xfrm>
          <a:prstGeom prst="roundRect">
            <a:avLst/>
          </a:prstGeom>
          <a:solidFill>
            <a:srgbClr val="11211B"/>
          </a:solidFill>
          <a:ln w="508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308152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Multi-Modal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3364992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Image uploads in chat using Gemma's vision capabilities — analyse charts, photos, documents inline.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4352544"/>
            <a:ext cx="566928" cy="566928"/>
          </a:xfrm>
          <a:prstGeom prst="roundRect">
            <a:avLst/>
          </a:prstGeom>
          <a:solidFill>
            <a:srgbClr val="4A3B15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4352544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BBF24"/>
                </a:solidFill>
                <a:latin typeface="Calibri"/>
              </a:rPr>
              <a:t>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03136" y="4352544"/>
            <a:ext cx="4946904" cy="566928"/>
          </a:xfrm>
          <a:prstGeom prst="roundRect">
            <a:avLst/>
          </a:prstGeom>
          <a:solidFill>
            <a:srgbClr val="251F0F"/>
          </a:solidFill>
          <a:ln w="508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4398264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Wearable Integrations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1152" y="4681728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Expand beyond Google Fit to Apple Health, Fitbit, Garmin APIs for broader fitness data coverage.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62 / 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429207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Complete Data Flow — One Chat 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" y="1389888"/>
            <a:ext cx="2798064" cy="5166360"/>
          </a:xfrm>
          <a:prstGeom prst="roundRect">
            <a:avLst/>
          </a:prstGeom>
          <a:solidFill>
            <a:srgbClr val="131B24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389888"/>
            <a:ext cx="2798064" cy="347472"/>
          </a:xfrm>
          <a:prstGeom prst="rect">
            <a:avLst/>
          </a:prstGeom>
          <a:solidFill>
            <a:srgbClr val="1B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F9CF9"/>
                </a:solidFill>
                <a:latin typeface="Calibri"/>
              </a:rPr>
              <a:t>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55648"/>
            <a:ext cx="2596896" cy="10972"/>
          </a:xfrm>
          <a:prstGeom prst="rect">
            <a:avLst/>
          </a:prstGeom>
          <a:solidFill>
            <a:srgbClr val="1F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865376"/>
            <a:ext cx="2651760" cy="4462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1. Types message
   ↓
2. POST /api/chat
   Bearer: JWT
   ↓
3. Waits for response
   ↓
4. Renders Markdown
   ↓
5. Plays TTS audio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1389888"/>
            <a:ext cx="2798064" cy="5166360"/>
          </a:xfrm>
          <a:prstGeom prst="roundRect">
            <a:avLst/>
          </a:prstGeom>
          <a:solidFill>
            <a:srgbClr val="1C1424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6704" y="1389888"/>
            <a:ext cx="2798064" cy="347472"/>
          </a:xfrm>
          <a:prstGeom prst="rect">
            <a:avLst/>
          </a:prstGeom>
          <a:solidFill>
            <a:srgbClr val="2D1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4447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855F7"/>
                </a:solidFill>
                <a:latin typeface="Calibri"/>
              </a:rPr>
              <a:t>API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8144" y="1755648"/>
            <a:ext cx="2596896" cy="10972"/>
          </a:xfrm>
          <a:prstGeom prst="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8144" y="1865376"/>
            <a:ext cx="2651760" cy="4462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1. Verifies JWT
   ↓
2. Reads user profile
   ↓
3. Reads memories
   ↓
4. Reads fitness data
   ↓
5. Reads 10 msgs
   ↓
6. Assembles prompt
   ↓
7. Saves both msgs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389888"/>
            <a:ext cx="2798064" cy="5166360"/>
          </a:xfrm>
          <a:prstGeom prst="roundRect">
            <a:avLst/>
          </a:prstGeom>
          <a:solidFill>
            <a:srgbClr val="11211B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389888"/>
            <a:ext cx="2798064" cy="347472"/>
          </a:xfrm>
          <a:prstGeom prst="rect">
            <a:avLst/>
          </a:prstGeom>
          <a:solidFill>
            <a:srgbClr val="163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14447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34D399"/>
                </a:solidFill>
                <a:latin typeface="Calibri"/>
              </a:rPr>
              <a:t>RAG ENGINE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755648"/>
            <a:ext cx="2596896" cy="10972"/>
          </a:xfrm>
          <a:prstGeom prst="rect">
            <a:avLst/>
          </a:prstGeom>
          <a:solidFill>
            <a:srgbClr val="194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65376"/>
            <a:ext cx="2651760" cy="4462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1. Tokenize query
   ↓
2. Load all KB chunks
   ↓
3. BM25 score each
   ↓
4. Sort by relevance
   ↓
5. Return Top-5
   ↓
6. With doc names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389888"/>
            <a:ext cx="2798064" cy="5166360"/>
          </a:xfrm>
          <a:prstGeom prst="roundRect">
            <a:avLst/>
          </a:prstGeom>
          <a:solidFill>
            <a:srgbClr val="251F0F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72016" y="1389888"/>
            <a:ext cx="2798064" cy="347472"/>
          </a:xfrm>
          <a:prstGeom prst="rect">
            <a:avLst/>
          </a:prstGeom>
          <a:solidFill>
            <a:srgbClr val="3E32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5168" y="14447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BBF24"/>
                </a:solidFill>
                <a:latin typeface="Calibri"/>
              </a:rPr>
              <a:t>GEMINI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63456" y="1755648"/>
            <a:ext cx="2596896" cy="10972"/>
          </a:xfrm>
          <a:prstGeom prst="rect">
            <a:avLst/>
          </a:prstGeom>
          <a:solidFill>
            <a:srgbClr val="4A3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63456" y="1865376"/>
            <a:ext cx="2651760" cy="4462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1. Receives context
   ↓
2. System instruction
   ↓
3. User profile data
   ↓
4. KB chunks
   ↓
5. Chat history
   ↓
6. Generates text
   ↓
7. Returns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63 / 70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309774" cy="256032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SECURITY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Production Security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✅  Implemented Security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719072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71907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Passwords hashed with bcryptjs (10 salt rounds — ~100 ms hash time)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139696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213969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157984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JWT signed with HMAC-SHA256, 7-day expiry, role claim embedded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" y="2560320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2560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578608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CORS restricted to FRONTEND_URL environment variable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2980944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98094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99232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Admin routes double-protected: requireAuth + requireAdmin middleware chain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" y="3401568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419856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OAuth2 read-only scopes for Google Fit (activity, body, heart_rate)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3822191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822191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840479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OAuth2 tokens stored server-side in user.profile — never sent to frontend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" y="4242816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424281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261104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File upload type validation: MIME type + extension check (PDF/TXT/MD only)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" y="4663440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663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4681727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File size limit enforced at multer layer (20 MB maximum per document)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" y="5084064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508406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02352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Markdown rendered via react-markdown with HTML disabled — XSS prevented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" y="5504688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550468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5522976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Error responses return {"error":"message"} — no stack traces exposed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912" y="5925312"/>
            <a:ext cx="274320" cy="274320"/>
          </a:xfrm>
          <a:prstGeom prst="roundRect">
            <a:avLst/>
          </a:prstGeom>
          <a:solidFill>
            <a:srgbClr val="16362A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59253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5943600"/>
            <a:ext cx="4992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UUID-based IDs for all resources — no sequential ID enumeration attacks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1389888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BBF24"/>
                </a:solidFill>
                <a:latin typeface="Calibri"/>
              </a:rPr>
              <a:t>⚠️  Known Gaps / Recommendations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4768" y="1719072"/>
            <a:ext cx="274320" cy="274320"/>
          </a:xfrm>
          <a:prstGeom prst="roundRect">
            <a:avLst/>
          </a:prstGeom>
          <a:solidFill>
            <a:srgbClr val="3E3213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44768" y="171907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1737360"/>
            <a:ext cx="5202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Rate limiting not yet implemented (express-rate-limit planned for v2.0)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44768" y="2267712"/>
            <a:ext cx="274320" cy="274320"/>
          </a:xfrm>
          <a:prstGeom prst="roundRect">
            <a:avLst/>
          </a:prstGeom>
          <a:solidFill>
            <a:srgbClr val="3E3213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22677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2286000"/>
            <a:ext cx="5202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HTTPS enforcement delegated to Render.com / Netlify platform layer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2816352"/>
            <a:ext cx="274320" cy="274320"/>
          </a:xfrm>
          <a:prstGeom prst="roundRect">
            <a:avLst/>
          </a:prstGeom>
          <a:solidFill>
            <a:srgbClr val="3E3213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44768" y="281635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2834640"/>
            <a:ext cx="5202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maximum length validation on chat message input body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4768" y="3364991"/>
            <a:ext cx="274320" cy="274320"/>
          </a:xfrm>
          <a:prstGeom prst="roundRect">
            <a:avLst/>
          </a:prstGeom>
          <a:solidFill>
            <a:srgbClr val="3E3213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44768" y="3364991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83279"/>
            <a:ext cx="5202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CSRF tokens (SPA + JWT Bearer header mitigates standard CSRF vectors)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44768" y="3913631"/>
            <a:ext cx="274320" cy="274320"/>
          </a:xfrm>
          <a:prstGeom prst="roundRect">
            <a:avLst/>
          </a:prstGeom>
          <a:solidFill>
            <a:srgbClr val="3E3213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1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92240" y="3931919"/>
            <a:ext cx="5202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JWT secret rotation requires re-login for all active users (no refresh tokens)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4768" y="4462272"/>
            <a:ext cx="274320" cy="274320"/>
          </a:xfrm>
          <a:prstGeom prst="roundRect">
            <a:avLst/>
          </a:prstGeom>
          <a:solidFill>
            <a:srgbClr val="3E3213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4768" y="446227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4480559"/>
            <a:ext cx="5202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audit logging for admin actions (settings changes, user deletions)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64 / 70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2309774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ADVANTAGES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Why Choose CIRA — 8 Competitive Advantages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" y="1389888"/>
            <a:ext cx="2798064" cy="2267712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389888"/>
            <a:ext cx="54864" cy="2267712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81328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993392"/>
            <a:ext cx="2578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F9CF9"/>
                </a:solidFill>
                <a:latin typeface="Calibri"/>
              </a:rPr>
              <a:t>Cost Efficient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304288"/>
            <a:ext cx="257860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~$12/month vs. $110–370 for equivalent stacks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1389888"/>
            <a:ext cx="2798064" cy="2267712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6704" y="1389888"/>
            <a:ext cx="54864" cy="226771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1481328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1993392"/>
            <a:ext cx="2578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A855F7"/>
                </a:solidFill>
                <a:latin typeface="Calibri"/>
              </a:rPr>
              <a:t>Deep Personalization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304288"/>
            <a:ext cx="257860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Profile + AI memories + live Google Fit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389888"/>
            <a:ext cx="2798064" cy="2267712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389888"/>
            <a:ext cx="54864" cy="226771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481328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1993392"/>
            <a:ext cx="2578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2D3EE"/>
                </a:solidFill>
                <a:latin typeface="Calibri"/>
              </a:rPr>
              <a:t>Zero-Cost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304288"/>
            <a:ext cx="257860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BM25: no vector DB or embedding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389888"/>
            <a:ext cx="2798064" cy="2267712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72016" y="1389888"/>
            <a:ext cx="54864" cy="226771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481328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⚙️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993392"/>
            <a:ext cx="2578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4D399"/>
                </a:solidFill>
                <a:latin typeface="Calibri"/>
              </a:rPr>
              <a:t>Admin-First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304288"/>
            <a:ext cx="257860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Full bot config without any code changes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3785616"/>
            <a:ext cx="2798064" cy="2267712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4048" y="3785616"/>
            <a:ext cx="54864" cy="226771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3877056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🏗️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4389120"/>
            <a:ext cx="2578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BBF24"/>
                </a:solidFill>
                <a:latin typeface="Calibri"/>
              </a:rPr>
              <a:t>Multi-Instance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4700016"/>
            <a:ext cx="257860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N isolated bots from one codebase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46704" y="3785616"/>
            <a:ext cx="2798064" cy="2267712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46704" y="3785616"/>
            <a:ext cx="54864" cy="226771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93008" y="3877056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4389120"/>
            <a:ext cx="2578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7171"/>
                </a:solidFill>
                <a:latin typeface="Calibri"/>
              </a:rPr>
              <a:t>Model Agnostic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4700016"/>
            <a:ext cx="257860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6 Gemma variants, switch without code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785616"/>
            <a:ext cx="2798064" cy="2267712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3785616"/>
            <a:ext cx="54864" cy="2267712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3877056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🛡️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4389120"/>
            <a:ext cx="2578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F9CF9"/>
                </a:solidFill>
                <a:latin typeface="Calibri"/>
              </a:rPr>
              <a:t>Secure by 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4700016"/>
            <a:ext cx="257860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JWT + bcrypt + RBAC + CORS + OAuth2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3785616"/>
            <a:ext cx="2798064" cy="2267712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72016" y="3785616"/>
            <a:ext cx="54864" cy="226771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18320" y="3877056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4389120"/>
            <a:ext cx="2578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A855F7"/>
                </a:solidFill>
                <a:latin typeface="Calibri"/>
              </a:rPr>
              <a:t>Rich UX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4700016"/>
            <a:ext cx="257860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TTS · STT · Markdown · themes · responsive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65 / 70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918411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API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REST API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5623560" cy="2340864"/>
          </a:xfrm>
          <a:prstGeom prst="roundRect">
            <a:avLst/>
          </a:prstGeom>
          <a:solidFill>
            <a:srgbClr val="11211B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340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9616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34D399"/>
                </a:solidFill>
                <a:latin typeface="Calibri"/>
              </a:rPr>
              <a:t>📐 Resource-Oriented URLs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865376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URLs identify resources: /api/conversations/:id, /api/user/memories/:id. Actions expressed via HTTP verbs (GET/POST/PUT/PATCH/DELETE) — not verbs in URLs.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1389888"/>
            <a:ext cx="5623560" cy="2340864"/>
          </a:xfrm>
          <a:prstGeom prst="roundRect">
            <a:avLst/>
          </a:prstGeom>
          <a:solidFill>
            <a:srgbClr val="131B24"/>
          </a:solidFill>
          <a:ln w="635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64224" y="1389888"/>
            <a:ext cx="54864" cy="2340864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499616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4F9CF9"/>
                </a:solidFill>
                <a:latin typeface="Calibri"/>
              </a:rPr>
              <a:t>🔄 Consistent Response 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1865376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Success: data payload JSON. Error: {"error":"message"} with correct HTTP code (400/401/403/500). Frontend handles both shapes uniformly.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877056"/>
            <a:ext cx="5623560" cy="2340864"/>
          </a:xfrm>
          <a:prstGeom prst="roundRect">
            <a:avLst/>
          </a:prstGeom>
          <a:solidFill>
            <a:srgbClr val="1C1424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877056"/>
            <a:ext cx="54864" cy="2340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986784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A855F7"/>
                </a:solidFill>
                <a:latin typeface="Calibri"/>
              </a:rPr>
              <a:t>🔗 Stateless Requests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352544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Every request carries full auth context (JWT Bearer token). No server session required. Enables load balancing without sticky sessions.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3877056"/>
            <a:ext cx="5623560" cy="2340864"/>
          </a:xfrm>
          <a:prstGeom prst="roundRect">
            <a:avLst/>
          </a:prstGeom>
          <a:solidFill>
            <a:srgbClr val="0F2123"/>
          </a:solidFill>
          <a:ln w="63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64224" y="3877056"/>
            <a:ext cx="54864" cy="2340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986784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2D3EE"/>
                </a:solidFill>
                <a:latin typeface="Calibri"/>
              </a:rPr>
              <a:t>🏷️ Content Negotiation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352544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JSON for all API responses. MP3 audio for /api/tts. Content-Type headers correctly set on all responses for proper client-side handling.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66 / 70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624888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INNOVATIONS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Technical Innovation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5047488"/>
          </a:xfrm>
          <a:prstGeom prst="round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5047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3493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  <a:latin typeface="Calibri"/>
              </a:rPr>
              <a:t>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6771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34D399"/>
                </a:solidFill>
                <a:latin typeface="Calibri"/>
              </a:rPr>
              <a:t>AI-Powered Memory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3310128" cy="10972"/>
          </a:xfrm>
          <a:prstGeom prst="rect">
            <a:avLst/>
          </a:prstGeom>
          <a:solidFill>
            <a:srgbClr val="194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871216"/>
            <a:ext cx="3493008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Using Gemma to analyse conversation history and extract persistent user facts is a unique approach to implicit personalisation — no user survey or manual tagging required.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389888"/>
            <a:ext cx="3703320" cy="5047488"/>
          </a:xfrm>
          <a:prstGeom prst="round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389888"/>
            <a:ext cx="54864" cy="50474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72768"/>
            <a:ext cx="3493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  <a:latin typeface="Calibri"/>
              </a:rP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6771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A855F7"/>
                </a:solidFill>
                <a:latin typeface="Calibri"/>
              </a:rPr>
              <a:t>Weighted Knowledge Blending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2706624"/>
            <a:ext cx="3310128" cy="10972"/>
          </a:xfrm>
          <a:prstGeom prst="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871216"/>
            <a:ext cx="3493008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Simultaneously weighting RAG, model knowledge, and web search is not a standard chatbot pattern. It enables fine-grained control over information sourcing per deployment.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1389888"/>
            <a:ext cx="3703320" cy="5047488"/>
          </a:xfrm>
          <a:prstGeom prst="roundRect">
            <a:avLst/>
          </a:prstGeom>
          <a:solidFill>
            <a:srgbClr val="101C32"/>
          </a:solidFill>
          <a:ln w="635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1389888"/>
            <a:ext cx="54864" cy="50474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572768"/>
            <a:ext cx="3493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  <a:latin typeface="Calibri"/>
              </a:rPr>
              <a:t>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26771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22D3EE"/>
                </a:solidFill>
                <a:latin typeface="Calibri"/>
              </a:rPr>
              <a:t>Live Fitness Context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22208" y="2706624"/>
            <a:ext cx="3310128" cy="10972"/>
          </a:xfrm>
          <a:prstGeom prst="rect">
            <a:avLst/>
          </a:prstGeom>
          <a:solidFill>
            <a:srgbClr val="144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871216"/>
            <a:ext cx="3493008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Injecting real-time wearable data (steps, HR, weight) into AI system prompts bridges the gap between fitness tracking and actionable AI advice — a first for open-source chatbots.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67 / 70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820570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11311128" cy="914400"/>
          </a:xfrm>
          <a:prstGeom prst="roundRect">
            <a:avLst/>
          </a:prstGeom>
          <a:solidFill>
            <a:srgbClr val="131B24"/>
          </a:solidFill>
          <a:ln w="635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9144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6304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481328"/>
            <a:ext cx="6217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Personalization is the core differentiator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288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Health profile + auto-extracted AI memories + Google Fit live data injected into every Gemma request. No other open-source chatbot combines all three in one platform.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" y="2414016"/>
            <a:ext cx="11311128" cy="914400"/>
          </a:xfrm>
          <a:prstGeom prst="roundRect">
            <a:avLst/>
          </a:prstGeom>
          <a:solidFill>
            <a:srgbClr val="11211B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414016"/>
            <a:ext cx="54864" cy="914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716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505456"/>
            <a:ext cx="6217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BM25 eliminates the biggest cost driver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852928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Zero embedding API calls + zero vector DB = $0 RAG infrastructure vs. $70–250/month for Pinecone/Weaviate. BM25 matches semantic search accuracy for domain-specific documents.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3438144"/>
            <a:ext cx="11311128" cy="914400"/>
          </a:xfrm>
          <a:prstGeom prst="roundRect">
            <a:avLst/>
          </a:prstGeom>
          <a:solidFill>
            <a:srgbClr val="1C1424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" y="3438144"/>
            <a:ext cx="54864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1129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529584"/>
            <a:ext cx="6217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Admin-first design enables non-technical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877056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Gemma model, temperature, system prompt, RAG weights, TTS voice — all configurable via admin UI. Settings read from SQLite on every request; no server restart or redeploy ever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4462272"/>
            <a:ext cx="11311128" cy="914400"/>
          </a:xfrm>
          <a:prstGeom prst="roundRect">
            <a:avLst/>
          </a:prstGeom>
          <a:solidFill>
            <a:srgbClr val="251F0F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462272"/>
            <a:ext cx="54864" cy="9144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535424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🏗️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553712"/>
            <a:ext cx="6217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Architecture scales pragmatically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90118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SQLite WAL mode handles ~50 concurrent users per instance. Multiple instances scale horizontally. Clearly defined migration path to PostgreSQL for enterprise requirements.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" y="5486400"/>
            <a:ext cx="11311128" cy="914400"/>
          </a:xfrm>
          <a:prstGeom prst="roundRect">
            <a:avLst/>
          </a:prstGeom>
          <a:solidFill>
            <a:srgbClr val="0F2123"/>
          </a:solidFill>
          <a:ln w="63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" y="5486400"/>
            <a:ext cx="54864" cy="914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559552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577840"/>
            <a:ext cx="6217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Production-ready in under 30 minutes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925312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Clone repo → npm install → set GEMMA_API_KEY + JWT_SECRET → node start-instances.js. Deploy to Render + Netlify with render.yaml and netlify.toml already configured.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68 / 70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292608"/>
            <a:ext cx="1429207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12648"/>
            <a:ext cx="11292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What to Look For in 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80160"/>
            <a:ext cx="11311128" cy="10972"/>
          </a:xfrm>
          <a:prstGeom prst="rect">
            <a:avLst/>
          </a:prstGeom>
          <a:solidFill>
            <a:srgbClr val="1E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" y="1389888"/>
            <a:ext cx="3703320" cy="2331720"/>
          </a:xfrm>
          <a:prstGeom prst="roundRect">
            <a:avLst/>
          </a:prstGeom>
          <a:solidFill>
            <a:srgbClr val="11231D"/>
          </a:solidFill>
          <a:ln w="7620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389888"/>
            <a:ext cx="54864" cy="2331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Multi-Conversation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Create two separate conversations. Notice each has an auto-generated title and independent message history.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389888"/>
            <a:ext cx="3703320" cy="2331720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14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1" y="1389888"/>
            <a:ext cx="54864" cy="2331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RAG in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Ask about content from an uploaded document. Notice source citation references appear alongside the AI response.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752" y="1389888"/>
            <a:ext cx="3703320" cy="2331720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1F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389888"/>
            <a:ext cx="54864" cy="23317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1481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9912" y="1920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TTS + STT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231136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Click the TTS button to hear the response in ElevenLabs voice. Use the microphone to speak a question.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877056"/>
            <a:ext cx="3703320" cy="2331720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362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877056"/>
            <a:ext cx="54864" cy="2331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Profile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Fill the health profile. Ask a fitness question — notice how the answer references your specific profile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1" y="3877056"/>
            <a:ext cx="3703320" cy="2331720"/>
          </a:xfrm>
          <a:prstGeom prst="roundRect">
            <a:avLst/>
          </a:prstGeom>
          <a:solidFill>
            <a:srgbClr val="272110"/>
          </a:solidFill>
          <a:ln w="7620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1" y="3877056"/>
            <a:ext cx="54864" cy="2331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799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799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Memory Extraction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After several conversations, trigger memory extraction. Watch Gemma auto-identify learned facts about you.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02752" y="3877056"/>
            <a:ext cx="3703320" cy="2331720"/>
          </a:xfrm>
          <a:prstGeom prst="roundRect">
            <a:avLst/>
          </a:prstGeom>
          <a:solidFill>
            <a:srgbClr val="271818"/>
          </a:solidFill>
          <a:ln w="7620">
            <a:solidFill>
              <a:srgbClr val="4A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2752" y="3877056"/>
            <a:ext cx="54864" cy="23317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9684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⚙️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9912" y="44074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Admin Settings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9912" y="4718304"/>
            <a:ext cx="3456432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Switch the AI model, change the system prompt, upload a document — all without restarting the server.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69 / 70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80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23560"/>
            <a:ext cx="12191695" cy="1234440"/>
          </a:xfrm>
          <a:prstGeom prst="rect">
            <a:avLst/>
          </a:prstGeom>
          <a:solidFill>
            <a:srgbClr val="080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027103" y="0"/>
            <a:ext cx="164592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21808" y="256032"/>
            <a:ext cx="1429207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1072591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107259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4F9CF9"/>
                </a:solidFill>
                <a:latin typeface="Calibri"/>
              </a:rPr>
              <a:t>CIRA — Intelligent Conversational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3657600"/>
            <a:ext cx="7068312" cy="10972"/>
          </a:xfrm>
          <a:prstGeom prst="rect">
            <a:avLst/>
          </a:prstGeom>
          <a:solidFill>
            <a:srgbClr val="2E3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95728" y="3858768"/>
            <a:ext cx="2468880" cy="1389888"/>
          </a:xfrm>
          <a:prstGeom prst="roundRect">
            <a:avLst/>
          </a:prstGeom>
          <a:solidFill>
            <a:srgbClr val="141D27"/>
          </a:solidFill>
          <a:ln w="762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3931920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437083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GitHub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462686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F9CF9"/>
                </a:solidFill>
                <a:latin typeface="Calibri"/>
              </a:rPr>
              <a:t>bashab18/chatbot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3208" y="3858768"/>
            <a:ext cx="2468880" cy="1389888"/>
          </a:xfrm>
          <a:prstGeom prst="roundRect">
            <a:avLst/>
          </a:prstGeom>
          <a:solidFill>
            <a:srgbClr val="1E1527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3208" y="3931920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3208" y="437083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Powered 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3208" y="462686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855F7"/>
                </a:solidFill>
                <a:latin typeface="Calibri"/>
              </a:rPr>
              <a:t>Google Gemma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90688" y="3858768"/>
            <a:ext cx="2468880" cy="1389888"/>
          </a:xfrm>
          <a:prstGeom prst="roundRect">
            <a:avLst/>
          </a:prstGeom>
          <a:solidFill>
            <a:srgbClr val="0F2326"/>
          </a:solidFill>
          <a:ln w="762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3931920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90688" y="437083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Deploy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462686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2D3EE"/>
                </a:solidFill>
                <a:latin typeface="Calibri"/>
              </a:rPr>
              <a:t>Render + Netlify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" y="5961888"/>
            <a:ext cx="1331366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REACT 18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80006" y="5961888"/>
            <a:ext cx="1280160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NODE.JS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23260" y="5961888"/>
            <a:ext cx="1527048" cy="256032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SQLITE WAL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60036" y="5961888"/>
            <a:ext cx="1331366" cy="256032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BM25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1130" y="5961888"/>
            <a:ext cx="1331366" cy="256032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JWT AUTH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42224" y="5961888"/>
            <a:ext cx="1527048" cy="256032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GOOGLE FIT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79000" y="5961888"/>
            <a:ext cx="1918411" cy="256032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ELEVENLABS TTS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07140" y="5961888"/>
            <a:ext cx="1918411" cy="256032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MULTI-INSTANCE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6539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2E3E58"/>
                </a:solidFill>
                <a:latin typeface="Calibri"/>
              </a:rPr>
              <a:t>70 / 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